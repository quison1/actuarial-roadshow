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6"/>
  </p:notesMasterIdLst>
  <p:handoutMasterIdLst>
    <p:handoutMasterId r:id="rId27"/>
  </p:handoutMasterIdLst>
  <p:sldIdLst>
    <p:sldId id="256" r:id="rId5"/>
    <p:sldId id="349" r:id="rId6"/>
    <p:sldId id="350" r:id="rId7"/>
    <p:sldId id="280" r:id="rId8"/>
    <p:sldId id="322" r:id="rId9"/>
    <p:sldId id="373" r:id="rId10"/>
    <p:sldId id="372" r:id="rId11"/>
    <p:sldId id="374" r:id="rId12"/>
    <p:sldId id="353" r:id="rId13"/>
    <p:sldId id="354" r:id="rId14"/>
    <p:sldId id="352" r:id="rId15"/>
    <p:sldId id="265" r:id="rId16"/>
    <p:sldId id="278" r:id="rId17"/>
    <p:sldId id="282" r:id="rId18"/>
    <p:sldId id="286" r:id="rId19"/>
    <p:sldId id="808" r:id="rId20"/>
    <p:sldId id="435" r:id="rId21"/>
    <p:sldId id="433" r:id="rId22"/>
    <p:sldId id="431" r:id="rId23"/>
    <p:sldId id="371" r:id="rId24"/>
    <p:sldId id="376" r:id="rId25"/>
  </p:sldIdLst>
  <p:sldSz cx="9144000" cy="5143500" type="screen16x9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BAEBDB-0414-BEE2-A965-5E4E9D1D495D}" name="Adam Butt" initials="AB" userId="S::u4233932@anu.edu.au::9f5bae33-f1c9-45c0-9da9-4a5d3772138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52AA39-F1A0-441E-AAD8-EADBBD4F4522}" v="1" dt="2026-03-11T21:31:43.5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8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38" y="6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8" d="100"/>
          <a:sy n="68" d="100"/>
        </p:scale>
        <p:origin x="1779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Butt" userId="9f5bae33-f1c9-45c0-9da9-4a5d37721380" providerId="ADAL" clId="{1452AA39-F1A0-441E-AAD8-EADBBD4F4522}"/>
    <pc:docChg chg="custSel delSld modSld">
      <pc:chgData name="Adam Butt" userId="9f5bae33-f1c9-45c0-9da9-4a5d37721380" providerId="ADAL" clId="{1452AA39-F1A0-441E-AAD8-EADBBD4F4522}" dt="2026-03-11T21:32:04.769" v="21" actId="1076"/>
      <pc:docMkLst>
        <pc:docMk/>
      </pc:docMkLst>
      <pc:sldChg chg="addSp delSp modSp mod delAnim modAnim">
        <pc:chgData name="Adam Butt" userId="9f5bae33-f1c9-45c0-9da9-4a5d37721380" providerId="ADAL" clId="{1452AA39-F1A0-441E-AAD8-EADBBD4F4522}" dt="2026-03-11T21:32:04.769" v="21" actId="1076"/>
        <pc:sldMkLst>
          <pc:docMk/>
          <pc:sldMk cId="990857334" sldId="372"/>
        </pc:sldMkLst>
        <pc:picChg chg="add mod">
          <ac:chgData name="Adam Butt" userId="9f5bae33-f1c9-45c0-9da9-4a5d37721380" providerId="ADAL" clId="{1452AA39-F1A0-441E-AAD8-EADBBD4F4522}" dt="2026-03-11T21:32:04.769" v="21" actId="1076"/>
          <ac:picMkLst>
            <pc:docMk/>
            <pc:sldMk cId="990857334" sldId="372"/>
            <ac:picMk id="2" creationId="{63E9E2DC-DBA9-8964-AB08-A923DC31A07D}"/>
          </ac:picMkLst>
        </pc:picChg>
        <pc:picChg chg="del">
          <ac:chgData name="Adam Butt" userId="9f5bae33-f1c9-45c0-9da9-4a5d37721380" providerId="ADAL" clId="{1452AA39-F1A0-441E-AAD8-EADBBD4F4522}" dt="2026-03-11T21:31:22.148" v="15" actId="478"/>
          <ac:picMkLst>
            <pc:docMk/>
            <pc:sldMk cId="990857334" sldId="372"/>
            <ac:picMk id="3" creationId="{59EFF0AA-BBF8-32A6-7E55-A604EA998FB5}"/>
          </ac:picMkLst>
        </pc:picChg>
      </pc:sldChg>
      <pc:sldChg chg="modSp mod">
        <pc:chgData name="Adam Butt" userId="9f5bae33-f1c9-45c0-9da9-4a5d37721380" providerId="ADAL" clId="{1452AA39-F1A0-441E-AAD8-EADBBD4F4522}" dt="2026-03-09T21:44:45.852" v="14" actId="20577"/>
        <pc:sldMkLst>
          <pc:docMk/>
          <pc:sldMk cId="4063378303" sldId="431"/>
        </pc:sldMkLst>
        <pc:spChg chg="mod">
          <ac:chgData name="Adam Butt" userId="9f5bae33-f1c9-45c0-9da9-4a5d37721380" providerId="ADAL" clId="{1452AA39-F1A0-441E-AAD8-EADBBD4F4522}" dt="2026-03-09T21:44:45.852" v="14" actId="20577"/>
          <ac:spMkLst>
            <pc:docMk/>
            <pc:sldMk cId="4063378303" sldId="431"/>
            <ac:spMk id="12" creationId="{0326DCA6-3011-774F-909A-961304A3E816}"/>
          </ac:spMkLst>
        </pc:spChg>
      </pc:sldChg>
      <pc:sldChg chg="del">
        <pc:chgData name="Adam Butt" userId="9f5bae33-f1c9-45c0-9da9-4a5d37721380" providerId="ADAL" clId="{1452AA39-F1A0-441E-AAD8-EADBBD4F4522}" dt="2026-03-09T21:36:32.878" v="0" actId="47"/>
        <pc:sldMkLst>
          <pc:docMk/>
          <pc:sldMk cId="348280292" sldId="54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C0A257-B081-4972-B0CF-1F39F8714D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948091-2DCD-4509-A944-5FC3CAA095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27F89-6F89-4D72-A243-A68B4122D611}" type="datetimeFigureOut">
              <a:rPr lang="en-AU" smtClean="0"/>
              <a:t>12/03/2026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C56B26-2CBE-4E97-9F33-B336733FED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7CD2B-E28A-4D49-A0FA-D516F93D72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777607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E5BEA-06EA-4996-A757-E0A11090F5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86134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51D79-A941-472A-B86F-4C1D5FA7235B}" type="datetimeFigureOut">
              <a:rPr lang="en-AU" smtClean="0"/>
              <a:t>12/03/2026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29E61-899D-4DEC-B2DA-C928176A27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600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29E61-899D-4DEC-B2DA-C928176A27CF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8813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29E61-899D-4DEC-B2DA-C928176A27CF}" type="slidenum">
              <a:rPr lang="en-AU" smtClean="0"/>
              <a:t>16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0545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29E61-899D-4DEC-B2DA-C928176A27CF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2735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29E61-899D-4DEC-B2DA-C928176A27CF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0347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A29E61-899D-4DEC-B2DA-C928176A27CF}" type="slidenum">
              <a:rPr lang="en-AU" smtClean="0"/>
              <a:t>19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06814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9C15709-5708-42E2-967A-CDAD26E73D25}" type="slidenum">
              <a:rPr lang="en-AU" altLang="en-US" smtClean="0"/>
              <a:pPr>
                <a:defRPr/>
              </a:pPr>
              <a:t>20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230486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6D05FB-9E00-4E05-8A11-8AC6AA5F17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450" y="373063"/>
            <a:ext cx="6120000" cy="396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2835"/>
              </a:spcAft>
              <a:defRPr sz="6400" cap="all" baseline="0"/>
            </a:lvl1pPr>
            <a:lvl2pPr>
              <a:defRPr sz="1800">
                <a:solidFill>
                  <a:schemeClr val="accent1"/>
                </a:solidFill>
              </a:defRPr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D46DD6-3FEF-4E8E-852D-6AB87C9AEE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400" y="0"/>
            <a:ext cx="17368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56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6D05FB-9E00-4E05-8A11-8AC6AA5F17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5999" y="373063"/>
            <a:ext cx="7523999" cy="3274027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2835"/>
              </a:spcAft>
              <a:defRPr sz="6400" cap="all" baseline="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1"/>
                </a:solidFill>
              </a:defRPr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6A049C-4F69-43AF-8C8B-0B56DA46CD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1999" y="2196000"/>
            <a:ext cx="4248000" cy="259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C2CD92-94A0-4183-91AF-1A31B8F162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36" y="0"/>
            <a:ext cx="17368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461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000" y="324000"/>
            <a:ext cx="6300000" cy="2139553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6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5014A4F5-33BC-4C41-B1AC-8B957B7635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2DF42F-AFE2-4EF3-B14F-54A469AB5E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000" y="324000"/>
            <a:ext cx="1830621" cy="1808163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6400">
                <a:solidFill>
                  <a:schemeClr val="accent1"/>
                </a:solidFill>
              </a:defRPr>
            </a:lvl1pPr>
            <a:lvl2pPr>
              <a:defRPr sz="6400">
                <a:solidFill>
                  <a:schemeClr val="accent1"/>
                </a:solidFill>
              </a:defRPr>
            </a:lvl2pPr>
            <a:lvl3pPr>
              <a:defRPr sz="6400">
                <a:solidFill>
                  <a:schemeClr val="accent1"/>
                </a:solidFill>
              </a:defRPr>
            </a:lvl3pPr>
            <a:lvl4pPr>
              <a:defRPr sz="6400">
                <a:solidFill>
                  <a:schemeClr val="accent1"/>
                </a:solidFill>
              </a:defRPr>
            </a:lvl4pPr>
            <a:lvl5pPr>
              <a:defRPr sz="6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18189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000" y="324000"/>
            <a:ext cx="6300000" cy="2139553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64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ANU SCHOOL OF LAW   |   PRESENTATION NAME GOES HERE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5014A4F5-33BC-4C41-B1AC-8B957B7635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2DF42F-AFE2-4EF3-B14F-54A469AB5E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000" y="324000"/>
            <a:ext cx="1830621" cy="1808163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6400">
                <a:solidFill>
                  <a:schemeClr val="tx1"/>
                </a:solidFill>
              </a:defRPr>
            </a:lvl1pPr>
            <a:lvl2pPr>
              <a:defRPr sz="6400">
                <a:solidFill>
                  <a:schemeClr val="accent1"/>
                </a:solidFill>
              </a:defRPr>
            </a:lvl2pPr>
            <a:lvl3pPr>
              <a:defRPr sz="6400">
                <a:solidFill>
                  <a:schemeClr val="accent1"/>
                </a:solidFill>
              </a:defRPr>
            </a:lvl3pPr>
            <a:lvl4pPr>
              <a:defRPr sz="6400">
                <a:solidFill>
                  <a:schemeClr val="accent1"/>
                </a:solidFill>
              </a:defRPr>
            </a:lvl4pPr>
            <a:lvl5pPr>
              <a:defRPr sz="6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AU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95412E3-4376-4E7F-8689-900603DB69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90800"/>
            <a:ext cx="9144000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520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Image_Dark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000" y="324000"/>
            <a:ext cx="6300000" cy="2139553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64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5014A4F5-33BC-4C41-B1AC-8B957B7635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2DF42F-AFE2-4EF3-B14F-54A469AB5E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000" y="324000"/>
            <a:ext cx="1830621" cy="1808163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6400">
                <a:solidFill>
                  <a:schemeClr val="tx1"/>
                </a:solidFill>
              </a:defRPr>
            </a:lvl1pPr>
            <a:lvl2pPr>
              <a:defRPr sz="6400">
                <a:solidFill>
                  <a:schemeClr val="accent1"/>
                </a:solidFill>
              </a:defRPr>
            </a:lvl2pPr>
            <a:lvl3pPr>
              <a:defRPr sz="6400">
                <a:solidFill>
                  <a:schemeClr val="accent1"/>
                </a:solidFill>
              </a:defRPr>
            </a:lvl3pPr>
            <a:lvl4pPr>
              <a:defRPr sz="6400">
                <a:solidFill>
                  <a:schemeClr val="accent1"/>
                </a:solidFill>
              </a:defRPr>
            </a:lvl4pPr>
            <a:lvl5pPr>
              <a:defRPr sz="6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89227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Image_Light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000" y="324000"/>
            <a:ext cx="6300000" cy="2139553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64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5014A4F5-33BC-4C41-B1AC-8B957B7635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2DF42F-AFE2-4EF3-B14F-54A469AB5E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000" y="324000"/>
            <a:ext cx="1830621" cy="1808163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6400">
                <a:solidFill>
                  <a:schemeClr val="tx1"/>
                </a:solidFill>
              </a:defRPr>
            </a:lvl1pPr>
            <a:lvl2pPr>
              <a:defRPr sz="6400">
                <a:solidFill>
                  <a:schemeClr val="accent1"/>
                </a:solidFill>
              </a:defRPr>
            </a:lvl2pPr>
            <a:lvl3pPr>
              <a:defRPr sz="6400">
                <a:solidFill>
                  <a:schemeClr val="accent1"/>
                </a:solidFill>
              </a:defRPr>
            </a:lvl3pPr>
            <a:lvl4pPr>
              <a:defRPr sz="6400">
                <a:solidFill>
                  <a:schemeClr val="accent1"/>
                </a:solidFill>
              </a:defRPr>
            </a:lvl4pPr>
            <a:lvl5pPr>
              <a:defRPr sz="6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363311-D81E-4290-8966-289EB731CC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90800"/>
            <a:ext cx="9144000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599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000" y="324000"/>
            <a:ext cx="2880000" cy="3144414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2000" y="324000"/>
            <a:ext cx="4932000" cy="414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72E4F78E-88AE-49DC-94D5-AD2C60619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04818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000" y="324000"/>
            <a:ext cx="2520000" cy="3144414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2000" y="324000"/>
            <a:ext cx="5652000" cy="4140000"/>
          </a:xfrm>
        </p:spPr>
        <p:txBody>
          <a:bodyPr numCol="2" spcCol="18000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72E4F78E-88AE-49DC-94D5-AD2C60619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3586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2000" y="324000"/>
            <a:ext cx="5652000" cy="4176000"/>
          </a:xfrm>
        </p:spPr>
        <p:txBody>
          <a:bodyPr numCol="2" spcCol="180000">
            <a:noAutofit/>
          </a:bodyPr>
          <a:lstStyle>
            <a:lvl1pPr>
              <a:defRPr sz="1000">
                <a:solidFill>
                  <a:schemeClr val="accent1"/>
                </a:solidFill>
                <a:latin typeface="Public Sans Light"/>
              </a:defRPr>
            </a:lvl1pPr>
            <a:lvl2pPr>
              <a:defRPr sz="800"/>
            </a:lvl2pPr>
            <a:lvl3pPr marL="90000" indent="-90000">
              <a:defRPr sz="800"/>
            </a:lvl3pPr>
            <a:lvl4pPr marL="180000" indent="-90000">
              <a:defRPr sz="800"/>
            </a:lvl4pPr>
            <a:lvl5pPr marL="270000" indent="-90000">
              <a:defRPr sz="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72E4F78E-88AE-49DC-94D5-AD2C60619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31932D-C811-4ADE-9CBC-C6F97F4734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000" y="324000"/>
            <a:ext cx="2520000" cy="3006725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800"/>
              </a:spcAft>
              <a:defRPr sz="3600"/>
            </a:lvl1pPr>
            <a:lvl2pPr>
              <a:defRPr sz="1800">
                <a:solidFill>
                  <a:schemeClr val="accent1"/>
                </a:solidFill>
              </a:defRPr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868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2000" y="324000"/>
            <a:ext cx="5652000" cy="4176000"/>
          </a:xfrm>
        </p:spPr>
        <p:txBody>
          <a:bodyPr numCol="1" spcCol="180000">
            <a:noAutofit/>
          </a:bodyPr>
          <a:lstStyle>
            <a:lvl1pPr>
              <a:defRPr sz="1400">
                <a:solidFill>
                  <a:schemeClr val="accent1"/>
                </a:solidFill>
                <a:latin typeface="Public Sans Light"/>
              </a:defRPr>
            </a:lvl1pPr>
            <a:lvl2pPr>
              <a:defRPr sz="1100"/>
            </a:lvl2pPr>
            <a:lvl3pPr marL="90000" indent="-90000">
              <a:defRPr sz="1100"/>
            </a:lvl3pPr>
            <a:lvl4pPr marL="180000" indent="-90000">
              <a:defRPr sz="1100"/>
            </a:lvl4pPr>
            <a:lvl5pPr marL="270000" indent="-90000">
              <a:defRPr sz="11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72E4F78E-88AE-49DC-94D5-AD2C60619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31932D-C811-4ADE-9CBC-C6F97F4734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000" y="324000"/>
            <a:ext cx="2520000" cy="3006725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800"/>
              </a:spcAft>
              <a:defRPr sz="3600"/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07276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2000" y="324000"/>
            <a:ext cx="5652000" cy="4140000"/>
          </a:xfrm>
        </p:spPr>
        <p:txBody>
          <a:bodyPr numCol="2" spcCol="180000">
            <a:noAutofit/>
          </a:bodyPr>
          <a:lstStyle>
            <a:lvl1pPr>
              <a:defRPr sz="800">
                <a:solidFill>
                  <a:schemeClr val="accent1"/>
                </a:solidFill>
                <a:latin typeface="Public Sans Light"/>
              </a:defRPr>
            </a:lvl1pPr>
            <a:lvl2pPr>
              <a:defRPr sz="800"/>
            </a:lvl2pPr>
            <a:lvl3pPr marL="90000" indent="-90000">
              <a:defRPr sz="800"/>
            </a:lvl3pPr>
            <a:lvl4pPr marL="180000" indent="-90000">
              <a:defRPr sz="800"/>
            </a:lvl4pPr>
            <a:lvl5pPr marL="270000" indent="-90000">
              <a:defRPr sz="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72E4F78E-88AE-49DC-94D5-AD2C60619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87F0A-3EF9-46A9-A8FF-9715CF0929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324000"/>
            <a:ext cx="2520000" cy="4140000"/>
          </a:xfrm>
        </p:spPr>
        <p:txBody>
          <a:bodyPr/>
          <a:lstStyle>
            <a:lvl1pPr>
              <a:lnSpc>
                <a:spcPct val="80000"/>
              </a:lnSpc>
              <a:defRPr sz="3600">
                <a:solidFill>
                  <a:schemeClr val="accent1"/>
                </a:solidFill>
              </a:defRPr>
            </a:lvl1pPr>
            <a:lvl2pPr>
              <a:spcAft>
                <a:spcPts val="1200"/>
              </a:spcAft>
              <a:defRPr sz="1800">
                <a:solidFill>
                  <a:schemeClr val="tx1"/>
                </a:solidFill>
              </a:defRPr>
            </a:lvl2pPr>
            <a:lvl3pPr>
              <a:buNone/>
              <a:defRPr/>
            </a:lvl3pPr>
            <a:lvl4pPr marL="179388" indent="-179388">
              <a:buFont typeface="Arial" panose="020B0604020202020204" pitchFamily="34" charset="0"/>
              <a:buChar char="•"/>
              <a:defRPr/>
            </a:lvl4pPr>
            <a:lvl5pPr marL="357188" indent="-179388">
              <a:buFont typeface="Times New Roman" panose="02020603050405020304" pitchFamily="18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44000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maller left,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2000" y="324000"/>
            <a:ext cx="5652000" cy="4140000"/>
          </a:xfrm>
        </p:spPr>
        <p:txBody>
          <a:bodyPr numCol="2" spcCol="180000">
            <a:noAutofit/>
          </a:bodyPr>
          <a:lstStyle>
            <a:lvl1pPr>
              <a:defRPr sz="800">
                <a:solidFill>
                  <a:schemeClr val="accent1"/>
                </a:solidFill>
                <a:latin typeface="Public Sans Light"/>
              </a:defRPr>
            </a:lvl1pPr>
            <a:lvl2pPr>
              <a:defRPr sz="800"/>
            </a:lvl2pPr>
            <a:lvl3pPr marL="90000" indent="-90000">
              <a:defRPr sz="800"/>
            </a:lvl3pPr>
            <a:lvl4pPr marL="180000" indent="-90000">
              <a:defRPr sz="800"/>
            </a:lvl4pPr>
            <a:lvl5pPr marL="270000" indent="-90000">
              <a:defRPr sz="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72E4F78E-88AE-49DC-94D5-AD2C60619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87F0A-3EF9-46A9-A8FF-9715CF0929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324000"/>
            <a:ext cx="2520000" cy="4140000"/>
          </a:xfrm>
        </p:spPr>
        <p:txBody>
          <a:bodyPr/>
          <a:lstStyle>
            <a:lvl1pPr>
              <a:lnSpc>
                <a:spcPct val="80000"/>
              </a:lnSpc>
              <a:defRPr sz="3600">
                <a:solidFill>
                  <a:schemeClr val="tx1"/>
                </a:solidFill>
              </a:defRPr>
            </a:lvl1pPr>
            <a:lvl2pPr>
              <a:spcAft>
                <a:spcPts val="1200"/>
              </a:spcAft>
              <a:defRPr sz="1800">
                <a:solidFill>
                  <a:schemeClr val="accent1"/>
                </a:solidFill>
              </a:defRPr>
            </a:lvl2pPr>
            <a:lvl3pPr>
              <a:buNone/>
              <a:defRPr sz="800"/>
            </a:lvl3pPr>
            <a:lvl4pPr marL="179388" indent="-179388">
              <a:buFont typeface="Arial" panose="020B0604020202020204" pitchFamily="34" charset="0"/>
              <a:buChar char="•"/>
              <a:defRPr sz="800"/>
            </a:lvl4pPr>
            <a:lvl5pPr marL="357188" indent="-179388">
              <a:buFont typeface="Times New Roman" panose="02020603050405020304" pitchFamily="18" charset="0"/>
              <a:buChar char="–"/>
              <a:defRPr sz="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99705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72E4F78E-88AE-49DC-94D5-AD2C60619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117324-6B4D-4511-9A09-354F377011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324000"/>
            <a:ext cx="8459788" cy="1512887"/>
          </a:xfrm>
        </p:spPr>
        <p:txBody>
          <a:bodyPr/>
          <a:lstStyle>
            <a:lvl1pPr>
              <a:lnSpc>
                <a:spcPct val="80000"/>
              </a:lnSpc>
              <a:defRPr sz="3600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704076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000" y="1800000"/>
            <a:ext cx="3600000" cy="2700000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72E4F78E-88AE-49DC-94D5-AD2C60619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523145E-4A65-4D12-BF17-1E376D23E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324000"/>
            <a:ext cx="3600000" cy="1512887"/>
          </a:xfrm>
        </p:spPr>
        <p:txBody>
          <a:bodyPr/>
          <a:lstStyle>
            <a:lvl1pPr>
              <a:lnSpc>
                <a:spcPct val="80000"/>
              </a:lnSpc>
              <a:defRPr sz="3600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17CBD4-5DAE-4848-BC50-36416D91C4AD}"/>
              </a:ext>
            </a:extLst>
          </p:cNvPr>
          <p:cNvCxnSpPr/>
          <p:nvPr userDrawn="1"/>
        </p:nvCxnSpPr>
        <p:spPr>
          <a:xfrm>
            <a:off x="4572000" y="324000"/>
            <a:ext cx="0" cy="410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2B441EC-09C6-4B4A-9603-C02952057B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56000" y="323850"/>
            <a:ext cx="3528000" cy="4104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4D845E-CFE4-4388-98CF-2B7CD087A9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12000" y="630621"/>
            <a:ext cx="108000" cy="3796917"/>
          </a:xfrm>
        </p:spPr>
        <p:txBody>
          <a:bodyPr vert="vert270" anchor="t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Image credit here</a:t>
            </a:r>
          </a:p>
        </p:txBody>
      </p:sp>
    </p:spTree>
    <p:extLst>
      <p:ext uri="{BB962C8B-B14F-4D97-AF65-F5344CB8AC3E}">
        <p14:creationId xmlns:p14="http://schemas.microsoft.com/office/powerpoint/2010/main" val="2309347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,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0150" y="1080000"/>
            <a:ext cx="3600000" cy="3347538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523145E-4A65-4D12-BF17-1E376D23E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20000" y="324000"/>
            <a:ext cx="3600000" cy="1512887"/>
          </a:xfrm>
        </p:spPr>
        <p:txBody>
          <a:bodyPr/>
          <a:lstStyle>
            <a:lvl1pPr>
              <a:lnSpc>
                <a:spcPct val="80000"/>
              </a:lnSpc>
              <a:defRPr sz="3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1"/>
                </a:solidFill>
              </a:defRPr>
            </a:lvl2pPr>
            <a:lvl3pPr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72E4F78E-88AE-49DC-94D5-AD2C60619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17CBD4-5DAE-4848-BC50-36416D91C4AD}"/>
              </a:ext>
            </a:extLst>
          </p:cNvPr>
          <p:cNvCxnSpPr/>
          <p:nvPr userDrawn="1"/>
        </p:nvCxnSpPr>
        <p:spPr>
          <a:xfrm>
            <a:off x="4572000" y="324000"/>
            <a:ext cx="0" cy="410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2B441EC-09C6-4B4A-9603-C02952057B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4000" y="323850"/>
            <a:ext cx="3528000" cy="4104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4D845E-CFE4-4388-98CF-2B7CD087A9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60000" y="630621"/>
            <a:ext cx="108000" cy="3796917"/>
          </a:xfrm>
        </p:spPr>
        <p:txBody>
          <a:bodyPr vert="vert270" anchor="t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Image credit here</a:t>
            </a:r>
          </a:p>
        </p:txBody>
      </p:sp>
    </p:spTree>
    <p:extLst>
      <p:ext uri="{BB962C8B-B14F-4D97-AF65-F5344CB8AC3E}">
        <p14:creationId xmlns:p14="http://schemas.microsoft.com/office/powerpoint/2010/main" val="300226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large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72E4F78E-88AE-49DC-94D5-AD2C60619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2B441EC-09C6-4B4A-9603-C02952057B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2000" y="323850"/>
            <a:ext cx="5652000" cy="4104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4D845E-CFE4-4388-98CF-2B7CD087A9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52000" y="630621"/>
            <a:ext cx="108000" cy="3796917"/>
          </a:xfrm>
        </p:spPr>
        <p:txBody>
          <a:bodyPr vert="vert270" anchor="t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Image credit here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6B4478A-1BDA-4472-A289-4B0C4E7959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324000"/>
            <a:ext cx="2160000" cy="4140000"/>
          </a:xfrm>
        </p:spPr>
        <p:txBody>
          <a:bodyPr/>
          <a:lstStyle>
            <a:lvl1pPr>
              <a:lnSpc>
                <a:spcPct val="80000"/>
              </a:lnSpc>
              <a:defRPr sz="3600">
                <a:solidFill>
                  <a:schemeClr val="tx1"/>
                </a:solidFill>
              </a:defRPr>
            </a:lvl1pPr>
            <a:lvl2pPr>
              <a:spcAft>
                <a:spcPts val="1200"/>
              </a:spcAft>
              <a:defRPr sz="1800">
                <a:solidFill>
                  <a:schemeClr val="accent1"/>
                </a:solidFill>
              </a:defRPr>
            </a:lvl2pPr>
            <a:lvl3pPr>
              <a:buNone/>
              <a:defRPr sz="800"/>
            </a:lvl3pPr>
            <a:lvl4pPr marL="179388" indent="-179388">
              <a:buFont typeface="Arial" panose="020B0604020202020204" pitchFamily="34" charset="0"/>
              <a:buChar char="•"/>
              <a:defRPr sz="800"/>
            </a:lvl4pPr>
            <a:lvl5pPr marL="357188" indent="-179388">
              <a:buFont typeface="Times New Roman" panose="02020603050405020304" pitchFamily="18" charset="0"/>
              <a:buChar char="–"/>
              <a:defRPr sz="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8945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17E45197-8F27-48C7-B54F-6D8F7E295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307DB3-CBE2-4A55-BE8E-C26CBADA0D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3850" y="324000"/>
            <a:ext cx="8460000" cy="4104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F005714D-B845-45B5-AB70-7040C72172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630621"/>
            <a:ext cx="108000" cy="3796917"/>
          </a:xfrm>
        </p:spPr>
        <p:txBody>
          <a:bodyPr vert="vert270" anchor="t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Image credit here</a:t>
            </a:r>
          </a:p>
        </p:txBody>
      </p:sp>
    </p:spTree>
    <p:extLst>
      <p:ext uri="{BB962C8B-B14F-4D97-AF65-F5344CB8AC3E}">
        <p14:creationId xmlns:p14="http://schemas.microsoft.com/office/powerpoint/2010/main" val="30116877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17E45197-8F27-48C7-B54F-6D8F7E295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307DB3-CBE2-4A55-BE8E-C26CBADA0D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3850" y="324000"/>
            <a:ext cx="4104000" cy="4104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CD301A0-52A4-469E-ACAD-84A14A2181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630621"/>
            <a:ext cx="108000" cy="3796917"/>
          </a:xfrm>
        </p:spPr>
        <p:txBody>
          <a:bodyPr vert="vert270" anchor="t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Image credit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46B417A0-A601-4DF8-833D-2F1065E5A80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80000" y="324000"/>
            <a:ext cx="4104000" cy="4104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C8112A07-2578-4C64-9E60-0E0913ABA1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36000" y="630621"/>
            <a:ext cx="108000" cy="3796917"/>
          </a:xfrm>
        </p:spPr>
        <p:txBody>
          <a:bodyPr vert="vert270" anchor="t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Image credit here</a:t>
            </a:r>
          </a:p>
        </p:txBody>
      </p:sp>
    </p:spTree>
    <p:extLst>
      <p:ext uri="{BB962C8B-B14F-4D97-AF65-F5344CB8AC3E}">
        <p14:creationId xmlns:p14="http://schemas.microsoft.com/office/powerpoint/2010/main" val="22489869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tagger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17E45197-8F27-48C7-B54F-6D8F7E295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307DB3-CBE2-4A55-BE8E-C26CBADA0D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3850" y="324000"/>
            <a:ext cx="3528000" cy="4104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CD301A0-52A4-469E-ACAD-84A14A2181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630621"/>
            <a:ext cx="108000" cy="3796917"/>
          </a:xfrm>
        </p:spPr>
        <p:txBody>
          <a:bodyPr vert="vert270" anchor="t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Image credit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46B417A0-A601-4DF8-833D-2F1065E5A80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2000" y="324000"/>
            <a:ext cx="3528000" cy="2304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C8112A07-2578-4C64-9E60-0E0913ABA1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8000" y="324000"/>
            <a:ext cx="108000" cy="2304000"/>
          </a:xfrm>
        </p:spPr>
        <p:txBody>
          <a:bodyPr vert="vert270" anchor="t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Image credit here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55C4169D-51A2-418E-95CB-AE67319994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60000" y="2916000"/>
            <a:ext cx="2124000" cy="1476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651BCC0A-46D4-42B0-987C-A33E38A571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3767" y="2916000"/>
            <a:ext cx="108000" cy="1476000"/>
          </a:xfrm>
        </p:spPr>
        <p:txBody>
          <a:bodyPr vert="vert270" anchor="t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Image credit here</a:t>
            </a:r>
          </a:p>
        </p:txBody>
      </p:sp>
    </p:spTree>
    <p:extLst>
      <p:ext uri="{BB962C8B-B14F-4D97-AF65-F5344CB8AC3E}">
        <p14:creationId xmlns:p14="http://schemas.microsoft.com/office/powerpoint/2010/main" val="17925023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523145E-4A65-4D12-BF17-1E376D23E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72000" y="323999"/>
            <a:ext cx="3312000" cy="1980000"/>
          </a:xfrm>
        </p:spPr>
        <p:txBody>
          <a:bodyPr/>
          <a:lstStyle>
            <a:lvl1pPr>
              <a:lnSpc>
                <a:spcPct val="80000"/>
              </a:lnSpc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72E4F78E-88AE-49DC-94D5-AD2C60619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2B441EC-09C6-4B4A-9603-C02952057B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4000" y="323850"/>
            <a:ext cx="4104000" cy="4104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4D845E-CFE4-4388-98CF-2B7CD087A9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630621"/>
            <a:ext cx="108000" cy="3796917"/>
          </a:xfrm>
        </p:spPr>
        <p:txBody>
          <a:bodyPr vert="vert270" anchor="t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Image credit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8C956-62EE-4375-80BD-F88AA733C3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72000" y="3024000"/>
            <a:ext cx="3311525" cy="1511214"/>
          </a:xfrm>
        </p:spPr>
        <p:txBody>
          <a:bodyPr/>
          <a:lstStyle>
            <a:lvl1pPr>
              <a:spcAft>
                <a:spcPts val="0"/>
              </a:spcAft>
              <a:defRPr sz="9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 sz="900">
                <a:solidFill>
                  <a:schemeClr val="tx1"/>
                </a:solidFill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004508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523145E-4A65-4D12-BF17-1E376D23E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4000" y="323999"/>
            <a:ext cx="4770000" cy="2880000"/>
          </a:xfrm>
        </p:spPr>
        <p:txBody>
          <a:bodyPr/>
          <a:lstStyle>
            <a:lvl1pPr>
              <a:lnSpc>
                <a:spcPct val="80000"/>
              </a:lnSpc>
              <a:defRPr sz="28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72E4F78E-88AE-49DC-94D5-AD2C60619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8C956-62EE-4375-80BD-F88AA733C3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64000" y="3024000"/>
            <a:ext cx="3311525" cy="1511214"/>
          </a:xfrm>
        </p:spPr>
        <p:txBody>
          <a:bodyPr/>
          <a:lstStyle>
            <a:lvl1pPr>
              <a:spcAft>
                <a:spcPts val="0"/>
              </a:spcAft>
              <a:defRPr sz="9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 sz="900">
                <a:solidFill>
                  <a:schemeClr val="tx1"/>
                </a:solidFill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CCBDA75-3AB1-4C8B-B29D-537B8B1FAC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90800"/>
            <a:ext cx="9144000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011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523145E-4A65-4D12-BF17-1E376D23E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0000" y="323999"/>
            <a:ext cx="4770000" cy="2880000"/>
          </a:xfrm>
        </p:spPr>
        <p:txBody>
          <a:bodyPr/>
          <a:lstStyle>
            <a:lvl1pPr>
              <a:lnSpc>
                <a:spcPct val="80000"/>
              </a:lnSpc>
              <a:defRPr sz="28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72E4F78E-88AE-49DC-94D5-AD2C60619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8C956-62EE-4375-80BD-F88AA733C3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0000" y="3024000"/>
            <a:ext cx="3311525" cy="1511214"/>
          </a:xfrm>
        </p:spPr>
        <p:txBody>
          <a:bodyPr/>
          <a:lstStyle>
            <a:lvl1pPr>
              <a:spcAft>
                <a:spcPts val="0"/>
              </a:spcAft>
              <a:defRPr sz="9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 sz="900">
                <a:solidFill>
                  <a:schemeClr val="tx1"/>
                </a:solidFill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2373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4000" y="1260000"/>
            <a:ext cx="3960000" cy="324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4000" y="1260000"/>
            <a:ext cx="3960000" cy="324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8" name="Date Placeholder 10">
            <a:extLst>
              <a:ext uri="{FF2B5EF4-FFF2-40B4-BE49-F238E27FC236}">
                <a16:creationId xmlns:a16="http://schemas.microsoft.com/office/drawing/2014/main" id="{CA85DCDF-C5A3-43A1-9E40-308CB7A5F96D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CF810F9-EC51-4622-9468-3349A7AFA4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0" y="324001"/>
            <a:ext cx="8459788" cy="936000"/>
          </a:xfrm>
        </p:spPr>
        <p:txBody>
          <a:bodyPr/>
          <a:lstStyle>
            <a:lvl1pPr>
              <a:lnSpc>
                <a:spcPct val="80000"/>
              </a:lnSpc>
              <a:defRPr sz="3600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163793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000" y="1260872"/>
            <a:ext cx="3960000" cy="540000"/>
          </a:xfrm>
        </p:spPr>
        <p:txBody>
          <a:bodyPr anchor="ctr">
            <a:normAutofit/>
          </a:bodyPr>
          <a:lstStyle>
            <a:lvl1pPr marL="0" indent="0">
              <a:buNone/>
              <a:defRPr sz="14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00" y="1800000"/>
            <a:ext cx="3960000" cy="2700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4000" y="1260872"/>
            <a:ext cx="3960000" cy="540000"/>
          </a:xfrm>
        </p:spPr>
        <p:txBody>
          <a:bodyPr anchor="ctr">
            <a:normAutofit/>
          </a:bodyPr>
          <a:lstStyle>
            <a:lvl1pPr marL="0" indent="0">
              <a:buNone/>
              <a:defRPr sz="14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4000" y="1800000"/>
            <a:ext cx="3960000" cy="2700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14F034C-2451-4BE6-BB2F-13B71E82B300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FFA563F-7AE3-402E-9587-9C3CED7B3A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0" y="324001"/>
            <a:ext cx="8459788" cy="936872"/>
          </a:xfrm>
        </p:spPr>
        <p:txBody>
          <a:bodyPr/>
          <a:lstStyle>
            <a:lvl1pPr>
              <a:lnSpc>
                <a:spcPct val="80000"/>
              </a:lnSpc>
              <a:defRPr sz="3600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659563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8CE9A8DC-B386-48E5-A2B7-FF03052B93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515565A-8448-45B8-888E-3D8DE57354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324000"/>
            <a:ext cx="8459788" cy="1512887"/>
          </a:xfrm>
        </p:spPr>
        <p:txBody>
          <a:bodyPr/>
          <a:lstStyle>
            <a:lvl1pPr>
              <a:lnSpc>
                <a:spcPct val="80000"/>
              </a:lnSpc>
              <a:defRPr sz="3600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668512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ANU SCHOOL OF LAW   |   PRESENTATION NAME GOES HERE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17E45197-8F27-48C7-B54F-6D8F7E295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97023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6D05FB-9E00-4E05-8A11-8AC6AA5F17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1999" y="373063"/>
            <a:ext cx="5612607" cy="170273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2835"/>
              </a:spcAft>
              <a:defRPr sz="6400" cap="all" baseline="0">
                <a:solidFill>
                  <a:schemeClr val="tx1"/>
                </a:solidFill>
              </a:defRPr>
            </a:lvl1pPr>
            <a:lvl2pPr>
              <a:lnSpc>
                <a:spcPct val="80000"/>
              </a:lnSpc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7B2C6D-31F3-4B5D-8AEA-D378B3F6B1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32138" y="1260000"/>
            <a:ext cx="5611812" cy="2921000"/>
          </a:xfrm>
        </p:spPr>
        <p:txBody>
          <a:bodyPr/>
          <a:lstStyle>
            <a:lvl1pPr>
              <a:spcAft>
                <a:spcPts val="2835"/>
              </a:spcAft>
              <a:defRPr sz="1800"/>
            </a:lvl1pPr>
            <a:lvl2pPr>
              <a:spcAft>
                <a:spcPts val="0"/>
              </a:spcAft>
              <a:defRPr sz="1200">
                <a:latin typeface="Public Sans Ligh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EE533D-B90B-4984-80AF-6A213C6C34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36" y="0"/>
            <a:ext cx="17368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80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4000" y="324000"/>
            <a:ext cx="8460000" cy="75723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000" y="1800000"/>
            <a:ext cx="8460000" cy="27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0000" y="4914000"/>
            <a:ext cx="5400000" cy="108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60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ANU SCHOOL OF LAW   |   PRESENTATION NAME GOES HERE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4000" y="4914000"/>
            <a:ext cx="360000" cy="108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60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0A01DC5-1685-4615-8240-15192985C6A2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EA9F80-8DAB-4E35-8304-FAC3410EE5CB}"/>
              </a:ext>
            </a:extLst>
          </p:cNvPr>
          <p:cNvSpPr txBox="1"/>
          <p:nvPr userDrawn="1"/>
        </p:nvSpPr>
        <p:spPr>
          <a:xfrm>
            <a:off x="-1967198" y="10969"/>
            <a:ext cx="1908720" cy="37856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22764" indent="-122764" algn="l">
              <a:buFont typeface="+mj-lt"/>
              <a:buNone/>
            </a:pPr>
            <a:r>
              <a:rPr lang="en-US" sz="600" b="1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CHOOSE A SLIDE STYLE FROM </a:t>
            </a:r>
          </a:p>
          <a:p>
            <a:pPr marL="179388" indent="-179388" algn="l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Home tab</a:t>
            </a:r>
          </a:p>
          <a:p>
            <a:pPr marL="179388" indent="-179388" algn="l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New Slide</a:t>
            </a:r>
          </a:p>
          <a:p>
            <a:pPr marL="179388" indent="-179388" algn="l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Choose layout</a:t>
            </a:r>
          </a:p>
          <a:p>
            <a:pPr marL="179388" indent="-179388" algn="l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If layout goes awry, select Reset</a:t>
            </a:r>
            <a:endParaRPr lang="en-US" sz="600" b="1" kern="1200" baseline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22764" indent="-122764" algn="l">
              <a:buFont typeface="+mj-lt"/>
              <a:buNone/>
            </a:pPr>
            <a:endParaRPr lang="en-US" sz="600" b="1" kern="1200" baseline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22764" indent="-122764" algn="l">
              <a:buFont typeface="+mj-lt"/>
              <a:buNone/>
            </a:pPr>
            <a:r>
              <a:rPr lang="en-US" sz="600" b="1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TEXT</a:t>
            </a:r>
          </a:p>
          <a:p>
            <a:pPr marL="0" indent="0" algn="l">
              <a:buFont typeface="+mj-lt"/>
              <a:buNone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There are 5 levels of formatted text available.</a:t>
            </a:r>
          </a:p>
          <a:p>
            <a:pPr marL="0" indent="0" algn="l">
              <a:buFont typeface="+mj-lt"/>
              <a:buNone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Please move between text  levels using the increase/decrease button on the menu above.</a:t>
            </a:r>
          </a:p>
          <a:p>
            <a:pPr marL="122764" indent="-122764" algn="l">
              <a:buFont typeface="+mj-lt"/>
              <a:buNone/>
            </a:pPr>
            <a:endParaRPr lang="en-US" sz="600" b="1" kern="1200" baseline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22764" indent="-122764" algn="l">
              <a:buFont typeface="+mj-lt"/>
              <a:buNone/>
            </a:pPr>
            <a:endParaRPr lang="en-US" sz="600" b="1" kern="1200" baseline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22764" indent="-122764" algn="l">
              <a:buFont typeface="+mj-lt"/>
              <a:buNone/>
            </a:pPr>
            <a:endParaRPr lang="en-US" sz="600" b="1" kern="1200" baseline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22764" indent="-122764" algn="l">
              <a:buFont typeface="+mj-lt"/>
              <a:buNone/>
            </a:pPr>
            <a:r>
              <a:rPr lang="en-US" sz="600" b="1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CHANGE SLIDE BACKGROUND</a:t>
            </a:r>
          </a:p>
          <a:p>
            <a:pPr marL="179388" indent="-179388" algn="l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Design Menu</a:t>
            </a:r>
          </a:p>
          <a:p>
            <a:pPr marL="179388" indent="-179388" algn="l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Format Background</a:t>
            </a:r>
          </a:p>
          <a:p>
            <a:pPr marL="179388" indent="-179388" algn="l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Picture or Texture Fill</a:t>
            </a:r>
          </a:p>
          <a:p>
            <a:pPr marL="179388" indent="-179388" algn="l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Find image </a:t>
            </a:r>
          </a:p>
          <a:p>
            <a:pPr marL="122764" indent="-122764" algn="l">
              <a:buFont typeface="+mj-lt"/>
              <a:buNone/>
            </a:pPr>
            <a:endParaRPr lang="en-US" sz="600" b="1" kern="1200" baseline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22764" indent="-122764" algn="l">
              <a:buFont typeface="+mj-lt"/>
              <a:buNone/>
            </a:pPr>
            <a:r>
              <a:rPr lang="en-US" sz="600" b="1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REPLACE IMAGE IN SHAPE OR ON PAGE</a:t>
            </a:r>
          </a:p>
          <a:p>
            <a:pPr marL="179388" indent="-179388" algn="l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Right click on image</a:t>
            </a:r>
          </a:p>
          <a:p>
            <a:pPr marL="179388" indent="-179388" algn="l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Change Picture</a:t>
            </a:r>
          </a:p>
          <a:p>
            <a:pPr marL="179388" indent="-179388" algn="l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Select your image</a:t>
            </a:r>
          </a:p>
          <a:p>
            <a:pPr marL="0" indent="0" algn="l">
              <a:buFont typeface="+mj-lt"/>
              <a:buNone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OR</a:t>
            </a:r>
          </a:p>
          <a:p>
            <a:pPr marL="179388" indent="-179388" algn="l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Delete the image</a:t>
            </a:r>
          </a:p>
          <a:p>
            <a:pPr marL="179388" indent="-179388" algn="l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on icon</a:t>
            </a:r>
          </a:p>
          <a:p>
            <a:pPr marL="179388" indent="-179388" algn="l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Find the new image</a:t>
            </a:r>
          </a:p>
          <a:p>
            <a:pPr marL="122764" indent="-122764" algn="l">
              <a:buFont typeface="+mj-lt"/>
              <a:buNone/>
            </a:pPr>
            <a:endParaRPr lang="en-US" sz="600" b="1" kern="1200" baseline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22764" indent="-122764" algn="l">
              <a:buFont typeface="+mj-lt"/>
              <a:buNone/>
            </a:pPr>
            <a:r>
              <a:rPr lang="en-US" sz="600" b="1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 REPOSITION IMAGE WITHIN SHAPE </a:t>
            </a:r>
          </a:p>
          <a:p>
            <a:pPr marL="179388" indent="-179388" algn="l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on image</a:t>
            </a:r>
          </a:p>
          <a:p>
            <a:pPr marL="179388" indent="-179388" algn="l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Format menu</a:t>
            </a:r>
          </a:p>
          <a:p>
            <a:pPr marL="179388" indent="-179388" algn="l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on Crop button</a:t>
            </a:r>
          </a:p>
          <a:p>
            <a:pPr marL="179388" indent="-179388" algn="l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 fit the whole image inside select FIT</a:t>
            </a:r>
          </a:p>
          <a:p>
            <a:pPr marL="179388" indent="-179388" algn="l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 use only a portion select FILL then crop, move or resize image to show properly within shape.</a:t>
            </a:r>
          </a:p>
          <a:p>
            <a:pPr marL="122764" indent="-122764" algn="l">
              <a:buFont typeface="+mj-lt"/>
              <a:buNone/>
            </a:pPr>
            <a:endParaRPr lang="en-US" sz="600" b="1" kern="1200" baseline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22764" indent="-122764" algn="l">
              <a:buFont typeface="+mj-lt"/>
              <a:buNone/>
            </a:pPr>
            <a:r>
              <a:rPr lang="en-US" sz="600" b="1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ADD/CHANGE FOOTER</a:t>
            </a:r>
          </a:p>
          <a:p>
            <a:pPr marL="179388" lvl="0" indent="-179388" algn="l" defTabSz="914400" rtl="0" eaLnBrk="1" latinLnBrk="0" hangingPunct="1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Insert Menu</a:t>
            </a:r>
          </a:p>
          <a:p>
            <a:pPr marL="179388" lvl="0" indent="-179388" algn="l" defTabSz="914400" rtl="0" eaLnBrk="1" latinLnBrk="0" hangingPunct="1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Header &amp; Footer</a:t>
            </a:r>
          </a:p>
          <a:p>
            <a:pPr marL="179388" lvl="0" indent="-179388" algn="l" defTabSz="914400" rtl="0" eaLnBrk="1" latinLnBrk="0" hangingPunct="1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Tick to activate/Untick to remove</a:t>
            </a:r>
          </a:p>
          <a:p>
            <a:pPr marL="179388" lvl="0" indent="-179388" algn="l" defTabSz="914400" rtl="0" eaLnBrk="1" latinLnBrk="0" hangingPunct="1">
              <a:buFont typeface="+mj-lt"/>
              <a:buAutoNum type="arabicPeriod"/>
            </a:pPr>
            <a:r>
              <a:rPr lang="en-US" sz="600" b="0" kern="1200" baseline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Change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2F70BC5-DBE8-42FB-9A35-2E8AC821B1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0000" y="4914000"/>
            <a:ext cx="7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DD MMM YY</a:t>
            </a:r>
            <a:endParaRPr lang="en-AU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DEE85A-4266-4E69-A969-DFA7B1E14139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67198" y="947672"/>
            <a:ext cx="474729" cy="1617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7071D7-58A8-4D10-B668-7A37D63450FB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90800"/>
            <a:ext cx="9144000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16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63" r:id="rId3"/>
    <p:sldLayoutId id="2147483669" r:id="rId4"/>
    <p:sldLayoutId id="2147483670" r:id="rId5"/>
    <p:sldLayoutId id="2147483687" r:id="rId6"/>
    <p:sldLayoutId id="2147483671" r:id="rId7"/>
    <p:sldLayoutId id="2147483672" r:id="rId8"/>
    <p:sldLayoutId id="2147483673" r:id="rId9"/>
    <p:sldLayoutId id="2147483674" r:id="rId10"/>
    <p:sldLayoutId id="2147483677" r:id="rId11"/>
    <p:sldLayoutId id="2147483678" r:id="rId12"/>
    <p:sldLayoutId id="2147483662" r:id="rId13"/>
    <p:sldLayoutId id="2147483676" r:id="rId14"/>
    <p:sldLayoutId id="2147483675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64" r:id="rId23"/>
    <p:sldLayoutId id="2147483665" r:id="rId24"/>
    <p:sldLayoutId id="2147483666" r:id="rId25"/>
    <p:sldLayoutId id="2147483667" r:id="rId26"/>
    <p:sldLayoutId id="2147483686" r:id="rId27"/>
  </p:sldLayoutIdLst>
  <p:hf hdr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Public Sans Ligh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400" b="0" kern="1200">
          <a:solidFill>
            <a:schemeClr val="accent1"/>
          </a:solidFill>
          <a:latin typeface="Public Sans Ligh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Times New Roman" panose="02020603050405020304" pitchFamily="18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ofia Pro Light" panose="020B0000000000000000" pitchFamily="34" charset="0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tinyurl.com/2bahjtm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ctuaries.asn.au/about-us/year-in-review-and-financial-statements" TargetMode="Externa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11.xml"/><Relationship Id="rId1" Type="http://schemas.openxmlformats.org/officeDocument/2006/relationships/video" Target="https://www.youtube.com/embed/yaNtX4qoegU?feature=oembe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2bahjtmd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ramsandcourses.anu.edu.au/program/BACTS" TargetMode="External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cbe.anu.edu.au/about/professional-organisations-and-accreditation/actuaries-institute-requirements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cbe.anu.edu.au/current-students/opportunities-and-careers/cbe-careers" TargetMode="External"/><Relationship Id="rId4" Type="http://schemas.openxmlformats.org/officeDocument/2006/relationships/image" Target="../media/image1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be.anu.edu.au/current-students/opportunities-and-careers/cbe-momentu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be.anu.edu.au/current-students/opportunities-and-careers/cbe-internship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y.anu.edu.au/apply/domestic-undergraduate/how-apply/early-offer-applicatio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anu.edu.au/study/apply/domestic-applications-anu-undergraduate/anu-undergraduate-domestic-uac-applications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cbe.anu.edu.au/actuarial-experience-day" TargetMode="Externa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CF4046B-2D6E-4241-ACA9-D9782353F0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450" y="373062"/>
            <a:ext cx="6364964" cy="4534951"/>
          </a:xfrm>
        </p:spPr>
        <p:txBody>
          <a:bodyPr>
            <a:normAutofit/>
          </a:bodyPr>
          <a:lstStyle/>
          <a:p>
            <a:r>
              <a:rPr lang="en-US" sz="5800" dirty="0">
                <a:latin typeface="+mn-lt"/>
              </a:rPr>
              <a:t>ACTUARIAL STUDIES AT ANU</a:t>
            </a:r>
          </a:p>
          <a:p>
            <a:pPr lvl="1"/>
            <a:r>
              <a:rPr lang="en-US" dirty="0"/>
              <a:t>ANU College of Business and Economics</a:t>
            </a:r>
          </a:p>
          <a:p>
            <a:pPr lvl="1"/>
            <a:r>
              <a:rPr lang="en-US" dirty="0"/>
              <a:t>Research School of Finance, Actuarial Studies and Statistics (RSFAS)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9D12-4A7A-43A1-863C-60A9BC7AE496}"/>
              </a:ext>
            </a:extLst>
          </p:cNvPr>
          <p:cNvSpPr txBox="1"/>
          <p:nvPr/>
        </p:nvSpPr>
        <p:spPr>
          <a:xfrm>
            <a:off x="340796" y="3027175"/>
            <a:ext cx="403385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indent="0">
              <a:buNone/>
            </a:pPr>
            <a:r>
              <a:rPr lang="en-AU" sz="2200" dirty="0"/>
              <a:t>Open up </a:t>
            </a:r>
            <a:r>
              <a:rPr lang="en-AU" sz="2200" dirty="0">
                <a:hlinkClick r:id="rId2"/>
              </a:rPr>
              <a:t>https://tinyurl.com/2bahjtmd</a:t>
            </a:r>
            <a:r>
              <a:rPr lang="en-AU" sz="2200" dirty="0"/>
              <a:t> on a web browser or use the QR code to the right to interact during this presentation!</a:t>
            </a:r>
          </a:p>
        </p:txBody>
      </p:sp>
      <p:pic>
        <p:nvPicPr>
          <p:cNvPr id="2" name="Picture 1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29D9B056-FD91-04C5-A5F7-8B3987D2FC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2787373"/>
            <a:ext cx="2356127" cy="235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389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88EB8-5256-4D92-B5CD-4B134676B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914000"/>
            <a:ext cx="360000" cy="108000"/>
          </a:xfrm>
        </p:spPr>
        <p:txBody>
          <a:bodyPr/>
          <a:lstStyle/>
          <a:p>
            <a:fld id="{10A01DC5-1685-4615-8240-15192985C6A2}" type="slidenum">
              <a:rPr lang="en-AU" smtClean="0"/>
              <a:pPr/>
              <a:t>2</a:t>
            </a:fld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8E5A7E-020A-4E2A-9975-F8F1F85A24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324000"/>
            <a:ext cx="2520000" cy="4140000"/>
          </a:xfrm>
        </p:spPr>
        <p:txBody>
          <a:bodyPr/>
          <a:lstStyle/>
          <a:p>
            <a:r>
              <a:rPr lang="en-AU" dirty="0"/>
              <a:t>What is an actuary?</a:t>
            </a:r>
          </a:p>
          <a:p>
            <a:pPr lvl="2"/>
            <a:endParaRPr lang="en-AU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AFCBD67-5035-7843-94A0-F50A44BF6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4200" y="4914000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</a:t>
            </a:r>
            <a:endParaRPr lang="en-AU" dirty="0"/>
          </a:p>
        </p:txBody>
      </p:sp>
      <p:pic>
        <p:nvPicPr>
          <p:cNvPr id="8" name="Picture 4" descr="Power Rangers Reaction GIF">
            <a:extLst>
              <a:ext uri="{FF2B5EF4-FFF2-40B4-BE49-F238E27FC236}">
                <a16:creationId xmlns:a16="http://schemas.microsoft.com/office/drawing/2014/main" id="{BD331A88-900C-438C-B790-FBCAD0D4585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536" y="649878"/>
            <a:ext cx="4176464" cy="381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95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E0F51-58E3-40DD-AB1D-5448510AD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0999" y="366686"/>
            <a:ext cx="5899001" cy="4410128"/>
          </a:xfrm>
        </p:spPr>
        <p:txBody>
          <a:bodyPr>
            <a:noAutofit/>
          </a:bodyPr>
          <a:lstStyle/>
          <a:p>
            <a:pPr marL="0" lvl="2" indent="0">
              <a:buNone/>
            </a:pPr>
            <a:r>
              <a:rPr lang="en-AU" sz="2800" dirty="0"/>
              <a:t>“</a:t>
            </a:r>
            <a:r>
              <a:rPr lang="en-US" sz="2800" dirty="0"/>
              <a:t>An actuary is a professional who uses mathematics, statistics, data and financial theory to assess and manage risk and opportunity.  Actuaries </a:t>
            </a:r>
            <a:r>
              <a:rPr lang="en-US" sz="2800" dirty="0" err="1"/>
              <a:t>analyse</a:t>
            </a:r>
            <a:r>
              <a:rPr lang="en-US" sz="2800" dirty="0"/>
              <a:t> data to evaluate the financial and societal impact of future events, helping businesses and communities make sound decisions about the future.</a:t>
            </a:r>
            <a:r>
              <a:rPr lang="en-AU" sz="2800" dirty="0"/>
              <a:t>”</a:t>
            </a:r>
          </a:p>
          <a:p>
            <a:pPr marL="0" lvl="2" indent="0">
              <a:buNone/>
            </a:pP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A64DA-1709-49F5-8FEC-EB4B418B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914000"/>
            <a:ext cx="360000" cy="108000"/>
          </a:xfrm>
        </p:spPr>
        <p:txBody>
          <a:bodyPr/>
          <a:lstStyle/>
          <a:p>
            <a:fld id="{10A01DC5-1685-4615-8240-15192985C6A2}" type="slidenum">
              <a:rPr lang="en-AU" smtClean="0"/>
              <a:pPr/>
              <a:t>3</a:t>
            </a:fld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BD09002-5196-4F53-8AD6-A86685A2F4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000" y="324000"/>
            <a:ext cx="2597000" cy="3006725"/>
          </a:xfrm>
        </p:spPr>
        <p:txBody>
          <a:bodyPr/>
          <a:lstStyle/>
          <a:p>
            <a:r>
              <a:rPr lang="en-AU" dirty="0"/>
              <a:t>From the Actuaries Institute of Australia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0F8D184-9B71-254F-AF1C-C96DEF960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4200" y="4914000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4335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88EB8-5256-4D92-B5CD-4B134676B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914000"/>
            <a:ext cx="360000" cy="108000"/>
          </a:xfrm>
        </p:spPr>
        <p:txBody>
          <a:bodyPr/>
          <a:lstStyle/>
          <a:p>
            <a:fld id="{10A01DC5-1685-4615-8240-15192985C6A2}" type="slidenum">
              <a:rPr lang="en-AU" smtClean="0"/>
              <a:pPr/>
              <a:t>4</a:t>
            </a:fld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8E5A7E-020A-4E2A-9975-F8F1F85A24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324000"/>
            <a:ext cx="2520000" cy="4140000"/>
          </a:xfrm>
        </p:spPr>
        <p:txBody>
          <a:bodyPr/>
          <a:lstStyle/>
          <a:p>
            <a:r>
              <a:rPr lang="en-AU" dirty="0"/>
              <a:t>Where do Actuaries work?</a:t>
            </a:r>
          </a:p>
          <a:p>
            <a:pPr lvl="2"/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42EAB2-0F7E-884B-9FD4-45043E82D685}"/>
              </a:ext>
            </a:extLst>
          </p:cNvPr>
          <p:cNvSpPr txBox="1"/>
          <p:nvPr/>
        </p:nvSpPr>
        <p:spPr>
          <a:xfrm>
            <a:off x="3733023" y="4319669"/>
            <a:ext cx="50871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>
                <a:hlinkClick r:id="rId2"/>
              </a:rPr>
              <a:t>https://www.actuaries.asn.au/about-us/year-in-review-and-financial-statements</a:t>
            </a:r>
            <a:endParaRPr lang="en-US" sz="1000" dirty="0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070AFC9-726E-564C-B462-8CF32EF19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4200" y="4914000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</a:t>
            </a:r>
            <a:endParaRPr lang="en-AU" dirty="0"/>
          </a:p>
        </p:txBody>
      </p:sp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91C9B5ED-9B54-A655-9ED7-A35BBF95E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34324"/>
              </p:ext>
            </p:extLst>
          </p:nvPr>
        </p:nvGraphicFramePr>
        <p:xfrm>
          <a:off x="3048000" y="240429"/>
          <a:ext cx="55800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772683539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117949078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405179582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1456666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Members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Primary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Secondary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2334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15"/>
                        </a:spcBef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General</a:t>
                      </a:r>
                      <a:r>
                        <a:rPr lang="en-US" sz="1400" spc="8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insurance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540" algn="ctr"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1400" spc="-2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1,807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210" algn="ctr"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31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4130" algn="ctr"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71343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25"/>
                        </a:spcBef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Life</a:t>
                      </a:r>
                      <a:r>
                        <a:rPr lang="en-US" sz="1400" spc="-4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insurance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540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1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1,375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210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24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4130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37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92475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en-US" sz="1400" spc="2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Science &amp; AI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540" marR="635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443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210" marR="635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5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4130" marR="635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46684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1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Superannuation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540" marR="635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332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210" marR="635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5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4130" marR="635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7283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Investment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540" marR="635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273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210" marR="635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5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4130" marR="635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3102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1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Banking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540" marR="1270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229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210" marR="635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5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4130" marR="635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2601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Health insurance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540" marR="2540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187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210" marR="1270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5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4130" marR="635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49620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Reinsurance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540" marR="1270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171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210" marR="1270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5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4130" marR="1270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27762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540" marR="1270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139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210" marR="1270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5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4130" marR="1270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5785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Finance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540" marR="1270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101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210" marR="1270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5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1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4130" marR="1270" algn="ctr"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AU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89877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032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A64DA-1709-49F5-8FEC-EB4B418B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914000"/>
            <a:ext cx="360000" cy="108000"/>
          </a:xfrm>
        </p:spPr>
        <p:txBody>
          <a:bodyPr/>
          <a:lstStyle/>
          <a:p>
            <a:fld id="{10A01DC5-1685-4615-8240-15192985C6A2}" type="slidenum">
              <a:rPr lang="en-AU" smtClean="0"/>
              <a:pPr/>
              <a:t>5</a:t>
            </a:fld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BD09002-5196-4F53-8AD6-A86685A2F4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000" y="324000"/>
            <a:ext cx="2597000" cy="3006725"/>
          </a:xfrm>
        </p:spPr>
        <p:txBody>
          <a:bodyPr/>
          <a:lstStyle/>
          <a:p>
            <a:r>
              <a:rPr lang="en-AU" dirty="0"/>
              <a:t>Who should consider an actuarial career?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0F8D184-9B71-254F-AF1C-C96DEF960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4200" y="4914000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F93C35-8166-4AF8-B569-47F657A31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793" y="1405593"/>
            <a:ext cx="6351714" cy="310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30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A64DA-1709-49F5-8FEC-EB4B418B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914000"/>
            <a:ext cx="360000" cy="108000"/>
          </a:xfrm>
        </p:spPr>
        <p:txBody>
          <a:bodyPr/>
          <a:lstStyle/>
          <a:p>
            <a:fld id="{10A01DC5-1685-4615-8240-15192985C6A2}" type="slidenum">
              <a:rPr lang="en-AU" smtClean="0"/>
              <a:pPr/>
              <a:t>6</a:t>
            </a:fld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BD09002-5196-4F53-8AD6-A86685A2F4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000" y="324000"/>
            <a:ext cx="2597000" cy="3006725"/>
          </a:xfrm>
        </p:spPr>
        <p:txBody>
          <a:bodyPr/>
          <a:lstStyle/>
          <a:p>
            <a:r>
              <a:rPr lang="en-AU" dirty="0"/>
              <a:t>What skills are needed for an actuarial career?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0F8D184-9B71-254F-AF1C-C96DEF960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4200" y="4914000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</a:t>
            </a:r>
            <a:endParaRPr lang="en-AU" dirty="0"/>
          </a:p>
        </p:txBody>
      </p:sp>
      <p:pic>
        <p:nvPicPr>
          <p:cNvPr id="8" name="Picture 2" descr="Related image">
            <a:extLst>
              <a:ext uri="{FF2B5EF4-FFF2-40B4-BE49-F238E27FC236}">
                <a16:creationId xmlns:a16="http://schemas.microsoft.com/office/drawing/2014/main" id="{D54E6208-84EB-46C6-A2A6-DB6A1B10A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017" y="1279538"/>
            <a:ext cx="6534726" cy="3370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6634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88EB8-5256-4D92-B5CD-4B134676B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914000"/>
            <a:ext cx="360000" cy="108000"/>
          </a:xfrm>
        </p:spPr>
        <p:txBody>
          <a:bodyPr/>
          <a:lstStyle/>
          <a:p>
            <a:fld id="{10A01DC5-1685-4615-8240-15192985C6A2}" type="slidenum">
              <a:rPr lang="en-AU" smtClean="0"/>
              <a:pPr/>
              <a:t>7</a:t>
            </a:fld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8E5A7E-020A-4E2A-9975-F8F1F85A24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324000"/>
            <a:ext cx="1950223" cy="4140000"/>
          </a:xfrm>
        </p:spPr>
        <p:txBody>
          <a:bodyPr/>
          <a:lstStyle/>
          <a:p>
            <a:r>
              <a:rPr lang="en-AU" dirty="0"/>
              <a:t>An example of actuarial work</a:t>
            </a:r>
          </a:p>
          <a:p>
            <a:pPr lvl="2"/>
            <a:endParaRPr lang="en-AU" dirty="0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070AFC9-726E-564C-B462-8CF32EF19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4200" y="4914000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</a:t>
            </a:r>
            <a:endParaRPr lang="en-AU" dirty="0"/>
          </a:p>
        </p:txBody>
      </p:sp>
      <p:pic>
        <p:nvPicPr>
          <p:cNvPr id="2" name="Online Media 1" title="Actuary at Canva — Do Customer Experience Better with Justin Tam, Data Analyst at Canva">
            <a:hlinkClick r:id="" action="ppaction://media"/>
            <a:extLst>
              <a:ext uri="{FF2B5EF4-FFF2-40B4-BE49-F238E27FC236}">
                <a16:creationId xmlns:a16="http://schemas.microsoft.com/office/drawing/2014/main" id="{63E9E2DC-DBA9-8964-AB08-A923DC31A07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74073" y="586384"/>
            <a:ext cx="6655403" cy="375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85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82A54F73-A807-B7BB-93E3-AF32A3F9E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442" y="1962000"/>
            <a:ext cx="2682456" cy="268245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E0F51-58E3-40DD-AB1D-5448510AD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000" y="324000"/>
            <a:ext cx="5652000" cy="4410128"/>
          </a:xfrm>
        </p:spPr>
        <p:txBody>
          <a:bodyPr>
            <a:noAutofit/>
          </a:bodyPr>
          <a:lstStyle/>
          <a:p>
            <a:pPr algn="just" eaLnBrk="1" hangingPunct="1"/>
            <a:r>
              <a:rPr lang="en-US" altLang="en-US" sz="2400" dirty="0"/>
              <a:t>Go to the following webpage and answer the questions:</a:t>
            </a: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en-US" altLang="en-US" sz="32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https://tinyurl.com/2bahjtmd</a:t>
            </a:r>
            <a:r>
              <a:rPr lang="en-US" altLang="en-US" sz="3200" dirty="0">
                <a:solidFill>
                  <a:srgbClr val="0070C0"/>
                </a:solidFill>
              </a:rPr>
              <a:t> </a:t>
            </a:r>
          </a:p>
          <a:p>
            <a:pPr algn="just" eaLnBrk="1" hangingPunct="1"/>
            <a:endParaRPr lang="en-US" altLang="en-US" sz="16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A64DA-1709-49F5-8FEC-EB4B418B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914000"/>
            <a:ext cx="360000" cy="108000"/>
          </a:xfrm>
        </p:spPr>
        <p:txBody>
          <a:bodyPr/>
          <a:lstStyle/>
          <a:p>
            <a:fld id="{10A01DC5-1685-4615-8240-15192985C6A2}" type="slidenum">
              <a:rPr lang="en-AU" smtClean="0"/>
              <a:pPr/>
              <a:t>8</a:t>
            </a:fld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BD09002-5196-4F53-8AD6-A86685A2F4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000" y="324000"/>
            <a:ext cx="2597000" cy="3006725"/>
          </a:xfrm>
        </p:spPr>
        <p:txBody>
          <a:bodyPr/>
          <a:lstStyle/>
          <a:p>
            <a:r>
              <a:rPr lang="en-AU" dirty="0"/>
              <a:t>Let’s get interactive!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0F8D184-9B71-254F-AF1C-C96DEF960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4200" y="4914000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50428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E0F51-58E3-40DD-AB1D-5448510AD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000" y="324000"/>
            <a:ext cx="5652000" cy="4410128"/>
          </a:xfrm>
        </p:spPr>
        <p:txBody>
          <a:bodyPr>
            <a:noAutofit/>
          </a:bodyPr>
          <a:lstStyle/>
          <a:p>
            <a:pPr algn="just" eaLnBrk="1" hangingPunct="1"/>
            <a:r>
              <a:rPr lang="en-US" altLang="en-US" sz="2400" dirty="0"/>
              <a:t>Suppose that:</a:t>
            </a: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en-US" altLang="en-US" sz="1800" dirty="0">
                <a:solidFill>
                  <a:schemeClr val="tx1"/>
                </a:solidFill>
              </a:rPr>
              <a:t>You were given the choice of the following two options:</a:t>
            </a: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342900" indent="-342900" algn="just" eaLnBrk="1" hangingPunct="1">
              <a:buFont typeface="+mj-lt"/>
              <a:buAutoNum type="alphaLcParenR"/>
            </a:pPr>
            <a:r>
              <a:rPr lang="en-US" altLang="en-US" sz="1800" dirty="0">
                <a:solidFill>
                  <a:schemeClr val="tx1"/>
                </a:solidFill>
              </a:rPr>
              <a:t>Someone gives you $100</a:t>
            </a:r>
          </a:p>
          <a:p>
            <a:pPr marL="342900" indent="-342900" algn="just" eaLnBrk="1" hangingPunct="1">
              <a:buFont typeface="+mj-lt"/>
              <a:buAutoNum type="alphaLcParenR"/>
            </a:pPr>
            <a:r>
              <a:rPr lang="en-AU" altLang="en-US" sz="1800" dirty="0">
                <a:solidFill>
                  <a:schemeClr val="tx1"/>
                </a:solidFill>
              </a:rPr>
              <a:t>You can have $250 if someone rolls a 4, 5 or 6 on a dice, but if they roll a 1, 2 or 3 you get nothing.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A64DA-1709-49F5-8FEC-EB4B418B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914000"/>
            <a:ext cx="360000" cy="108000"/>
          </a:xfrm>
        </p:spPr>
        <p:txBody>
          <a:bodyPr/>
          <a:lstStyle/>
          <a:p>
            <a:fld id="{10A01DC5-1685-4615-8240-15192985C6A2}" type="slidenum">
              <a:rPr lang="en-AU" smtClean="0"/>
              <a:pPr/>
              <a:t>9</a:t>
            </a:fld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BD09002-5196-4F53-8AD6-A86685A2F4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000" y="324000"/>
            <a:ext cx="2597000" cy="3006725"/>
          </a:xfrm>
        </p:spPr>
        <p:txBody>
          <a:bodyPr/>
          <a:lstStyle/>
          <a:p>
            <a:r>
              <a:rPr lang="en-AU" dirty="0"/>
              <a:t>A question of preferences</a:t>
            </a:r>
          </a:p>
          <a:p>
            <a:r>
              <a:rPr lang="en-AU" dirty="0"/>
              <a:t>(1)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0F8D184-9B71-254F-AF1C-C96DEF960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4200" y="4914000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68330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E0F51-58E3-40DD-AB1D-5448510AD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000" y="324000"/>
            <a:ext cx="5652000" cy="4410128"/>
          </a:xfrm>
        </p:spPr>
        <p:txBody>
          <a:bodyPr>
            <a:noAutofit/>
          </a:bodyPr>
          <a:lstStyle/>
          <a:p>
            <a:pPr algn="just" eaLnBrk="1" hangingPunct="1"/>
            <a:r>
              <a:rPr lang="en-US" altLang="en-US" sz="2400" dirty="0"/>
              <a:t>Suppose that:</a:t>
            </a: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en-US" altLang="en-US" sz="1800" dirty="0">
                <a:solidFill>
                  <a:schemeClr val="tx1"/>
                </a:solidFill>
              </a:rPr>
              <a:t>You were given the choice of the following two options:</a:t>
            </a: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342900" indent="-342900" algn="just" eaLnBrk="1" hangingPunct="1">
              <a:buFont typeface="+mj-lt"/>
              <a:buAutoNum type="alphaLcParenR"/>
            </a:pPr>
            <a:r>
              <a:rPr lang="en-US" altLang="en-US" sz="1800" dirty="0">
                <a:solidFill>
                  <a:schemeClr val="tx1"/>
                </a:solidFill>
              </a:rPr>
              <a:t>Someone gives you $100,000</a:t>
            </a:r>
          </a:p>
          <a:p>
            <a:pPr marL="342900" indent="-342900" algn="just" eaLnBrk="1" hangingPunct="1">
              <a:buFont typeface="+mj-lt"/>
              <a:buAutoNum type="alphaLcParenR"/>
            </a:pPr>
            <a:r>
              <a:rPr lang="en-AU" altLang="en-US" sz="1800" dirty="0">
                <a:solidFill>
                  <a:schemeClr val="tx1"/>
                </a:solidFill>
              </a:rPr>
              <a:t>You can have $250,000 if someone rolls a 4, 5 or 6 on a dice, but if they roll a 1, 2 or 3 you get nothing.</a:t>
            </a:r>
          </a:p>
          <a:p>
            <a:pPr algn="just" eaLnBrk="1" hangingPunct="1"/>
            <a:endParaRPr lang="en-AU" altLang="en-US" sz="18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A64DA-1709-49F5-8FEC-EB4B418B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914000"/>
            <a:ext cx="360000" cy="108000"/>
          </a:xfrm>
        </p:spPr>
        <p:txBody>
          <a:bodyPr/>
          <a:lstStyle/>
          <a:p>
            <a:fld id="{10A01DC5-1685-4615-8240-15192985C6A2}" type="slidenum">
              <a:rPr lang="en-AU" smtClean="0"/>
              <a:pPr/>
              <a:t>10</a:t>
            </a:fld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BD09002-5196-4F53-8AD6-A86685A2F4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000" y="324000"/>
            <a:ext cx="2597000" cy="3006725"/>
          </a:xfrm>
        </p:spPr>
        <p:txBody>
          <a:bodyPr/>
          <a:lstStyle/>
          <a:p>
            <a:r>
              <a:rPr lang="en-AU" dirty="0"/>
              <a:t>A question of preferences</a:t>
            </a:r>
          </a:p>
          <a:p>
            <a:r>
              <a:rPr lang="en-AU" dirty="0"/>
              <a:t>(2)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0F8D184-9B71-254F-AF1C-C96DEF960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4200" y="4914000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35651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E0F51-58E3-40DD-AB1D-5448510AD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000" y="324000"/>
            <a:ext cx="5652000" cy="4410128"/>
          </a:xfrm>
        </p:spPr>
        <p:txBody>
          <a:bodyPr>
            <a:noAutofit/>
          </a:bodyPr>
          <a:lstStyle/>
          <a:p>
            <a:pPr algn="just" eaLnBrk="1" hangingPunct="1"/>
            <a:r>
              <a:rPr lang="en-US" altLang="en-US" sz="2400" dirty="0"/>
              <a:t>Suppose that:</a:t>
            </a: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</a:endParaRP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Your iPhone is really good, but sometimes breaks down and doesn’t work.</a:t>
            </a: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In any 12-month period, the chance that it breaks down is 5%.</a:t>
            </a: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If it costs </a:t>
            </a:r>
            <a:r>
              <a:rPr lang="en-AU" sz="1800" dirty="0">
                <a:solidFill>
                  <a:schemeClr val="tx1"/>
                </a:solidFill>
              </a:rPr>
              <a:t>$2,000</a:t>
            </a:r>
            <a:r>
              <a:rPr lang="en-US" altLang="en-US" sz="1800" dirty="0">
                <a:solidFill>
                  <a:schemeClr val="tx1"/>
                </a:solidFill>
              </a:rPr>
              <a:t> to replace or buy a new iPhone when it breaks – how much might you be willing to pay someone else to replace your phone, at no extra cost, if it broke down? </a:t>
            </a:r>
            <a:r>
              <a:rPr lang="en-AU" sz="1800" dirty="0">
                <a:solidFill>
                  <a:schemeClr val="tx1"/>
                </a:solidFill>
              </a:rPr>
              <a:t>$50</a:t>
            </a:r>
            <a:r>
              <a:rPr lang="en-US" altLang="en-US" sz="1800" dirty="0">
                <a:solidFill>
                  <a:schemeClr val="tx1"/>
                </a:solidFill>
              </a:rPr>
              <a:t>? </a:t>
            </a:r>
            <a:r>
              <a:rPr lang="en-AU" sz="1800" dirty="0">
                <a:solidFill>
                  <a:schemeClr val="tx1"/>
                </a:solidFill>
              </a:rPr>
              <a:t> </a:t>
            </a:r>
            <a:r>
              <a:rPr lang="en-US" altLang="en-US" sz="1800" dirty="0">
                <a:solidFill>
                  <a:schemeClr val="tx1"/>
                </a:solidFill>
              </a:rPr>
              <a:t>$300?</a:t>
            </a: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In other words – would you pay </a:t>
            </a:r>
            <a:r>
              <a:rPr lang="en-AU" sz="1800" dirty="0">
                <a:solidFill>
                  <a:schemeClr val="tx1"/>
                </a:solidFill>
              </a:rPr>
              <a:t>$2,050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AU" sz="1800" dirty="0">
                <a:solidFill>
                  <a:schemeClr val="tx1"/>
                </a:solidFill>
              </a:rPr>
              <a:t>(or $2,300</a:t>
            </a:r>
            <a:r>
              <a:rPr lang="en-US" altLang="en-US" sz="1800" dirty="0">
                <a:solidFill>
                  <a:schemeClr val="tx1"/>
                </a:solidFill>
              </a:rPr>
              <a:t>) </a:t>
            </a:r>
            <a:r>
              <a:rPr lang="en-AU" sz="1800" dirty="0">
                <a:solidFill>
                  <a:schemeClr val="tx1"/>
                </a:solidFill>
              </a:rPr>
              <a:t>rather than $2,000</a:t>
            </a:r>
            <a:r>
              <a:rPr lang="en-US" altLang="en-US" sz="1800" dirty="0">
                <a:solidFill>
                  <a:schemeClr val="tx1"/>
                </a:solidFill>
              </a:rPr>
              <a:t> to protect yourself against the phone not working?</a:t>
            </a: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How much extra on top of $2,000 would you pay?</a:t>
            </a:r>
          </a:p>
          <a:p>
            <a:pPr marL="0" lvl="2" indent="0">
              <a:buNone/>
            </a:pP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A64DA-1709-49F5-8FEC-EB4B418B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914000"/>
            <a:ext cx="360000" cy="108000"/>
          </a:xfrm>
        </p:spPr>
        <p:txBody>
          <a:bodyPr/>
          <a:lstStyle/>
          <a:p>
            <a:fld id="{10A01DC5-1685-4615-8240-15192985C6A2}" type="slidenum">
              <a:rPr lang="en-AU" smtClean="0"/>
              <a:pPr/>
              <a:t>11</a:t>
            </a:fld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BD09002-5196-4F53-8AD6-A86685A2F4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000" y="324000"/>
            <a:ext cx="2597000" cy="3006725"/>
          </a:xfrm>
        </p:spPr>
        <p:txBody>
          <a:bodyPr/>
          <a:lstStyle/>
          <a:p>
            <a:r>
              <a:rPr lang="en-AU" dirty="0"/>
              <a:t>Thinking of this in terms of insurance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0F8D184-9B71-254F-AF1C-C96DEF960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4200" y="4914000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9915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E6FE8-F0E0-430B-829F-02ADA0D0A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914000"/>
            <a:ext cx="360000" cy="108000"/>
          </a:xfrm>
        </p:spPr>
        <p:txBody>
          <a:bodyPr/>
          <a:lstStyle/>
          <a:p>
            <a:fld id="{10A01DC5-1685-4615-8240-15192985C6A2}" type="slidenum">
              <a:rPr lang="en-AU" smtClean="0"/>
              <a:pPr/>
              <a:t>12</a:t>
            </a:fld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310FE0-69A4-4565-BC20-2529EB334A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324001"/>
            <a:ext cx="3600000" cy="1131037"/>
          </a:xfrm>
        </p:spPr>
        <p:txBody>
          <a:bodyPr>
            <a:normAutofit lnSpcReduction="10000"/>
          </a:bodyPr>
          <a:lstStyle/>
          <a:p>
            <a:r>
              <a:rPr lang="en-AU" sz="3200" dirty="0"/>
              <a:t>The Bachelor of Actuarial Studies at ANU</a:t>
            </a:r>
          </a:p>
        </p:txBody>
      </p: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033DB403-9E5B-DC44-91C0-5C9F1E3E1AC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7375" b="7375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66BAA3-3AB4-4C02-9488-682B7B5D3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455038"/>
            <a:ext cx="3600000" cy="3077112"/>
          </a:xfrm>
        </p:spPr>
        <p:txBody>
          <a:bodyPr>
            <a:noAutofit/>
          </a:bodyPr>
          <a:lstStyle/>
          <a:p>
            <a:pPr lvl="2"/>
            <a:r>
              <a:rPr lang="en-AU" sz="1500" dirty="0"/>
              <a:t>Details can be found </a:t>
            </a:r>
            <a:r>
              <a:rPr lang="en-AU" sz="1500" dirty="0">
                <a:hlinkClick r:id="rId3"/>
              </a:rPr>
              <a:t>here</a:t>
            </a:r>
            <a:r>
              <a:rPr lang="en-AU" sz="1500" dirty="0"/>
              <a:t>.</a:t>
            </a:r>
          </a:p>
          <a:p>
            <a:pPr lvl="2"/>
            <a:r>
              <a:rPr lang="en-AU" sz="1500" dirty="0"/>
              <a:t>Entry requirements (2026):</a:t>
            </a:r>
          </a:p>
          <a:p>
            <a:pPr lvl="3"/>
            <a:r>
              <a:rPr lang="en-AU" sz="1500" dirty="0"/>
              <a:t>ATAR = 92</a:t>
            </a:r>
          </a:p>
          <a:p>
            <a:pPr lvl="3"/>
            <a:r>
              <a:rPr lang="en-AU" sz="1500" dirty="0"/>
              <a:t>Mathematics = Specialist (major, required) / Specialist (major/minor, recommended)</a:t>
            </a:r>
          </a:p>
          <a:p>
            <a:pPr lvl="2"/>
            <a:r>
              <a:rPr lang="en-AU" sz="1500" dirty="0"/>
              <a:t>ANU provides for potential </a:t>
            </a:r>
            <a:r>
              <a:rPr lang="en-AU" sz="1500" dirty="0">
                <a:hlinkClick r:id="rId4"/>
              </a:rPr>
              <a:t>exemption</a:t>
            </a:r>
            <a:r>
              <a:rPr lang="en-AU" sz="1500" dirty="0"/>
              <a:t> from the Foundation Program and half of the Actuary Program in Australia.</a:t>
            </a:r>
          </a:p>
          <a:p>
            <a:pPr lvl="2"/>
            <a:r>
              <a:rPr lang="en-AU" sz="1500" dirty="0"/>
              <a:t>Centre of Actuarial Excellence and opportunity for University Earned Credit with the Society of Actuaries.</a:t>
            </a:r>
          </a:p>
          <a:p>
            <a:endParaRPr lang="en-AU" sz="1500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FFC551D-62C8-3F4C-AE38-83F4025EB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4200" y="4914000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66746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66BAA3-3AB4-4C02-9488-682B7B5D3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080442"/>
            <a:ext cx="3600000" cy="3347408"/>
          </a:xfrm>
        </p:spPr>
        <p:txBody>
          <a:bodyPr>
            <a:normAutofit/>
          </a:bodyPr>
          <a:lstStyle/>
          <a:p>
            <a:pPr lvl="2"/>
            <a:r>
              <a:rPr lang="en-AU" sz="1600" dirty="0"/>
              <a:t>Our programs are designed with a primary goal to prepare you for the practical work of an actuary. </a:t>
            </a:r>
          </a:p>
          <a:p>
            <a:pPr lvl="2"/>
            <a:r>
              <a:rPr lang="en-AU" sz="1600" dirty="0"/>
              <a:t>Most of the actuarial staff have worked commercially before coming to academia – we know what is involved to prepare you for working life and future exams, and we prepare students for that.</a:t>
            </a:r>
          </a:p>
          <a:p>
            <a:pPr lvl="2"/>
            <a:r>
              <a:rPr lang="en-AU" sz="1600" dirty="0"/>
              <a:t>Feedback from employers about our graduates is excellent – ANU actuarial graduates are seen to be of a very high quality.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E6FE8-F0E0-430B-829F-02ADA0D0A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914000"/>
            <a:ext cx="360000" cy="108000"/>
          </a:xfrm>
        </p:spPr>
        <p:txBody>
          <a:bodyPr/>
          <a:lstStyle/>
          <a:p>
            <a:fld id="{10A01DC5-1685-4615-8240-15192985C6A2}" type="slidenum">
              <a:rPr lang="en-AU" smtClean="0"/>
              <a:pPr/>
              <a:t>13</a:t>
            </a:fld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310FE0-69A4-4565-BC20-2529EB334A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324000"/>
            <a:ext cx="3600000" cy="1512887"/>
          </a:xfrm>
        </p:spPr>
        <p:txBody>
          <a:bodyPr/>
          <a:lstStyle/>
          <a:p>
            <a:r>
              <a:rPr lang="en-AU" dirty="0"/>
              <a:t>Industry experts</a:t>
            </a:r>
          </a:p>
        </p:txBody>
      </p:sp>
      <p:pic>
        <p:nvPicPr>
          <p:cNvPr id="10" name="Picture Placeholder 14">
            <a:extLst>
              <a:ext uri="{FF2B5EF4-FFF2-40B4-BE49-F238E27FC236}">
                <a16:creationId xmlns:a16="http://schemas.microsoft.com/office/drawing/2014/main" id="{48D590AE-6333-EB4E-8DA8-FA02EBDA233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6191" b="6191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1BE4D85-981A-354A-8FC1-50526572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4200" y="4914000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7541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66BAA3-3AB4-4C02-9488-682B7B5D3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442478"/>
            <a:ext cx="3913022" cy="3268301"/>
          </a:xfrm>
        </p:spPr>
        <p:txBody>
          <a:bodyPr>
            <a:normAutofit lnSpcReduction="10000"/>
          </a:bodyPr>
          <a:lstStyle/>
          <a:p>
            <a:pPr lvl="2">
              <a:lnSpc>
                <a:spcPct val="110000"/>
              </a:lnSpc>
            </a:pPr>
            <a:r>
              <a:rPr lang="en-AU" dirty="0">
                <a:solidFill>
                  <a:schemeClr val="accent1"/>
                </a:solidFill>
              </a:rPr>
              <a:t>#32 </a:t>
            </a:r>
            <a:r>
              <a:rPr lang="en-AU" dirty="0"/>
              <a:t>in the world</a:t>
            </a:r>
            <a:r>
              <a:rPr lang="en-AU" baseline="30000" dirty="0"/>
              <a:t>1</a:t>
            </a:r>
          </a:p>
          <a:p>
            <a:pPr lvl="2">
              <a:lnSpc>
                <a:spcPct val="110000"/>
              </a:lnSpc>
            </a:pPr>
            <a:r>
              <a:rPr lang="en-AU" dirty="0">
                <a:solidFill>
                  <a:schemeClr val="accent1"/>
                </a:solidFill>
              </a:rPr>
              <a:t>#1 </a:t>
            </a:r>
            <a:r>
              <a:rPr lang="en-AU" dirty="0"/>
              <a:t>in Australia </a:t>
            </a:r>
            <a:r>
              <a:rPr lang="en-AU" dirty="0">
                <a:solidFill>
                  <a:schemeClr val="accent1"/>
                </a:solidFill>
              </a:rPr>
              <a:t>#15 </a:t>
            </a:r>
            <a:r>
              <a:rPr lang="en-AU" dirty="0"/>
              <a:t>in the world for most international university</a:t>
            </a:r>
            <a:r>
              <a:rPr lang="en-AU" baseline="30000" dirty="0"/>
              <a:t>2</a:t>
            </a:r>
            <a:endParaRPr lang="en-AU" dirty="0">
              <a:solidFill>
                <a:schemeClr val="accent1"/>
              </a:solidFill>
            </a:endParaRPr>
          </a:p>
          <a:p>
            <a:pPr lvl="2">
              <a:lnSpc>
                <a:spcPct val="110000"/>
              </a:lnSpc>
            </a:pPr>
            <a:r>
              <a:rPr lang="en-AU" dirty="0">
                <a:solidFill>
                  <a:schemeClr val="accent1"/>
                </a:solidFill>
              </a:rPr>
              <a:t>#1 </a:t>
            </a:r>
            <a:r>
              <a:rPr lang="en-AU" dirty="0"/>
              <a:t>in Australia </a:t>
            </a:r>
            <a:r>
              <a:rPr lang="en-AU" dirty="0">
                <a:solidFill>
                  <a:schemeClr val="accent1"/>
                </a:solidFill>
              </a:rPr>
              <a:t>#30</a:t>
            </a:r>
            <a:r>
              <a:rPr lang="en-AU" dirty="0"/>
              <a:t> in the world for graduate employability</a:t>
            </a:r>
            <a:r>
              <a:rPr lang="en-AU" baseline="30000" dirty="0"/>
              <a:t>3</a:t>
            </a:r>
          </a:p>
          <a:p>
            <a:pPr lvl="2">
              <a:lnSpc>
                <a:spcPct val="110000"/>
              </a:lnSpc>
            </a:pPr>
            <a:r>
              <a:rPr lang="en-AU" dirty="0">
                <a:solidFill>
                  <a:schemeClr val="accent1"/>
                </a:solidFill>
              </a:rPr>
              <a:t>6</a:t>
            </a:r>
            <a:r>
              <a:rPr lang="en-AU" dirty="0"/>
              <a:t> Nobel Prize winners among our staff and alumni</a:t>
            </a:r>
          </a:p>
          <a:p>
            <a:pPr lvl="2">
              <a:lnSpc>
                <a:spcPct val="110000"/>
              </a:lnSpc>
            </a:pPr>
            <a:r>
              <a:rPr lang="en-AU" dirty="0">
                <a:solidFill>
                  <a:schemeClr val="accent1"/>
                </a:solidFill>
              </a:rPr>
              <a:t>91% </a:t>
            </a:r>
            <a:r>
              <a:rPr lang="en-AU" dirty="0"/>
              <a:t>of academic staff hold a masters or doctoral degree, more than any other Australian university</a:t>
            </a:r>
            <a:r>
              <a:rPr lang="en-AU" baseline="30000" dirty="0"/>
              <a:t>4</a:t>
            </a:r>
            <a:endParaRPr lang="en-AU" dirty="0"/>
          </a:p>
          <a:p>
            <a:pPr lvl="2">
              <a:lnSpc>
                <a:spcPct val="110000"/>
              </a:lnSpc>
            </a:pPr>
            <a:r>
              <a:rPr lang="en-AU" dirty="0">
                <a:solidFill>
                  <a:schemeClr val="accent1"/>
                </a:solidFill>
              </a:rPr>
              <a:t> 5 </a:t>
            </a:r>
            <a:r>
              <a:rPr lang="en-AU" dirty="0"/>
              <a:t>star rating for student : teacher ratio</a:t>
            </a:r>
            <a:r>
              <a:rPr lang="en-AU" baseline="30000" dirty="0"/>
              <a:t>4</a:t>
            </a:r>
          </a:p>
          <a:p>
            <a:pPr marL="0" lvl="2" indent="0">
              <a:buNone/>
            </a:pPr>
            <a:endParaRPr lang="en-AU" sz="200" dirty="0"/>
          </a:p>
          <a:p>
            <a:pPr marL="0" lvl="2" indent="0">
              <a:buNone/>
            </a:pPr>
            <a:endParaRPr lang="en-AU" sz="200" dirty="0"/>
          </a:p>
          <a:p>
            <a:pPr marL="0" lvl="2" indent="0">
              <a:buNone/>
            </a:pPr>
            <a:endParaRPr lang="en-AU" sz="200" dirty="0"/>
          </a:p>
          <a:p>
            <a:pPr marL="0" lvl="2" indent="0">
              <a:buNone/>
            </a:pPr>
            <a:endParaRPr lang="en-AU" sz="900" dirty="0"/>
          </a:p>
          <a:p>
            <a:pPr marL="0" lvl="2" indent="0">
              <a:buNone/>
            </a:pPr>
            <a:r>
              <a:rPr lang="en-AU" sz="800" i="1" baseline="30000" dirty="0"/>
              <a:t>1</a:t>
            </a:r>
            <a:r>
              <a:rPr lang="en-AU" sz="800" i="1" dirty="0"/>
              <a:t> QS World University Rankings 2026</a:t>
            </a:r>
          </a:p>
          <a:p>
            <a:pPr marL="0" lvl="2" indent="0">
              <a:buNone/>
            </a:pPr>
            <a:r>
              <a:rPr lang="en-AU" sz="800" i="1" baseline="30000" dirty="0"/>
              <a:t>2</a:t>
            </a:r>
            <a:r>
              <a:rPr lang="en-AU" sz="800" i="1" dirty="0"/>
              <a:t> Times Higher Education Most International University Rankings 2024</a:t>
            </a:r>
          </a:p>
          <a:p>
            <a:pPr marL="0" lvl="2" indent="0">
              <a:buNone/>
            </a:pPr>
            <a:r>
              <a:rPr lang="en-AU" sz="800" i="1" baseline="30000" dirty="0"/>
              <a:t>3</a:t>
            </a:r>
            <a:r>
              <a:rPr lang="en-AU" sz="800" i="1" dirty="0"/>
              <a:t> Times Higher Education Global University Employability Rankings 2025</a:t>
            </a:r>
          </a:p>
          <a:p>
            <a:pPr marL="0" lvl="2" indent="0">
              <a:buNone/>
            </a:pPr>
            <a:r>
              <a:rPr lang="en-AU" sz="800" i="1" baseline="30000" dirty="0"/>
              <a:t>4</a:t>
            </a:r>
            <a:r>
              <a:rPr lang="en-AU" sz="800" i="1" dirty="0"/>
              <a:t> Good Universities Guide 2024/2025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E6FE8-F0E0-430B-829F-02ADA0D0A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914000"/>
            <a:ext cx="360000" cy="108000"/>
          </a:xfrm>
        </p:spPr>
        <p:txBody>
          <a:bodyPr/>
          <a:lstStyle/>
          <a:p>
            <a:fld id="{10A01DC5-1685-4615-8240-15192985C6A2}" type="slidenum">
              <a:rPr lang="en-AU" smtClean="0"/>
              <a:pPr/>
              <a:t>14</a:t>
            </a:fld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310FE0-69A4-4565-BC20-2529EB334A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000" y="323851"/>
            <a:ext cx="3564001" cy="864870"/>
          </a:xfrm>
        </p:spPr>
        <p:txBody>
          <a:bodyPr>
            <a:normAutofit fontScale="92500"/>
          </a:bodyPr>
          <a:lstStyle/>
          <a:p>
            <a:r>
              <a:rPr lang="en-AU" sz="3400" dirty="0"/>
              <a:t>Australia’s National University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6BF50D8-566C-4392-8E60-667A8B55B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4200" y="4914000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</a:t>
            </a:r>
            <a:endParaRPr lang="en-AU" dirty="0"/>
          </a:p>
        </p:txBody>
      </p:sp>
      <p:pic>
        <p:nvPicPr>
          <p:cNvPr id="12" name="Picture Placeholder 14">
            <a:extLst>
              <a:ext uri="{FF2B5EF4-FFF2-40B4-BE49-F238E27FC236}">
                <a16:creationId xmlns:a16="http://schemas.microsoft.com/office/drawing/2014/main" id="{26D0F6DF-06D4-EE49-ABEC-1728849DEF8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532" b="5532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49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66BAA3-3AB4-4C02-9488-682B7B5D3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49" y="1018903"/>
            <a:ext cx="4124935" cy="3437534"/>
          </a:xfrm>
        </p:spPr>
        <p:txBody>
          <a:bodyPr>
            <a:normAutofit fontScale="85000" lnSpcReduction="10000"/>
          </a:bodyPr>
          <a:lstStyle/>
          <a:p>
            <a:pPr lvl="1">
              <a:lnSpc>
                <a:spcPct val="130000"/>
              </a:lnSpc>
            </a:pPr>
            <a:r>
              <a:rPr lang="en-AU" sz="1300" dirty="0"/>
              <a:t>The ANU College of Business and Economics (CBE) exists to have a transformative impact on society through advancing knowledge in the fields of business and economics. </a:t>
            </a:r>
          </a:p>
          <a:p>
            <a:pPr lvl="1">
              <a:lnSpc>
                <a:spcPct val="130000"/>
              </a:lnSpc>
            </a:pPr>
            <a:r>
              <a:rPr lang="en-AU" sz="1300" dirty="0"/>
              <a:t>The strength of our international reputation attracts exceptional students from Australia, the Asia-Pacific and beyond. We offer every student the opportunity to develop their strengths and the space to decide how they will make their future mark in the world.</a:t>
            </a:r>
          </a:p>
          <a:p>
            <a:pPr lvl="1"/>
            <a:endParaRPr lang="en-AU" sz="1600" dirty="0"/>
          </a:p>
          <a:p>
            <a:pPr lvl="2">
              <a:buFont typeface="Wingdings" pitchFamily="2" charset="2"/>
              <a:buChar char="§"/>
            </a:pPr>
            <a:r>
              <a:rPr lang="en-AU" sz="1300" dirty="0"/>
              <a:t>Four Research Schools</a:t>
            </a:r>
          </a:p>
          <a:p>
            <a:pPr lvl="3"/>
            <a:r>
              <a:rPr lang="en-AU" sz="1300" dirty="0"/>
              <a:t>Research School of Accounting</a:t>
            </a:r>
          </a:p>
          <a:p>
            <a:pPr lvl="3"/>
            <a:r>
              <a:rPr lang="en-AU" sz="1300" dirty="0"/>
              <a:t>Research School of Economics</a:t>
            </a:r>
          </a:p>
          <a:p>
            <a:pPr lvl="3"/>
            <a:r>
              <a:rPr lang="en-AU" sz="1300" dirty="0"/>
              <a:t>Research School of Finance, Actuarial Studies and Statistics</a:t>
            </a:r>
          </a:p>
          <a:p>
            <a:pPr lvl="3"/>
            <a:r>
              <a:rPr lang="en-AU" sz="1300" dirty="0"/>
              <a:t>Research School of Management</a:t>
            </a:r>
          </a:p>
          <a:p>
            <a:pPr lvl="2"/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310FE0-69A4-4565-BC20-2529EB334A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9" y="324002"/>
            <a:ext cx="3600000" cy="559579"/>
          </a:xfrm>
        </p:spPr>
        <p:txBody>
          <a:bodyPr>
            <a:noAutofit/>
          </a:bodyPr>
          <a:lstStyle/>
          <a:p>
            <a:r>
              <a:rPr lang="en-AU" sz="3100" dirty="0"/>
              <a:t>About CBE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9FA7EC-3ADA-584F-A3D3-CC8B9122F8CE}"/>
              </a:ext>
            </a:extLst>
          </p:cNvPr>
          <p:cNvSpPr txBox="1"/>
          <p:nvPr/>
        </p:nvSpPr>
        <p:spPr>
          <a:xfrm>
            <a:off x="6104301" y="1080769"/>
            <a:ext cx="2551399" cy="27997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14378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BF2F37"/>
              </a:buClr>
            </a:pPr>
            <a:r>
              <a:rPr lang="en-AU" altLang="en-US" sz="1600" b="1" dirty="0">
                <a:solidFill>
                  <a:schemeClr val="accent1"/>
                </a:solidFill>
                <a:latin typeface="Public Sans" pitchFamily="2" charset="77"/>
                <a:ea typeface="Helvetica Neue Light" panose="02000403000000020004" pitchFamily="2" charset="0"/>
              </a:rPr>
              <a:t>Our students</a:t>
            </a:r>
          </a:p>
          <a:p>
            <a:endParaRPr lang="en-AU" altLang="en-US" sz="1100" b="1" dirty="0">
              <a:latin typeface="Public Sans" pitchFamily="2" charset="77"/>
              <a:ea typeface="Helvetica Neue Light" panose="02000403000000020004" pitchFamily="2" charset="0"/>
              <a:cs typeface="Helvetica Neue Light" panose="02000403000000020004" pitchFamily="2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BF2F37"/>
              </a:buClr>
            </a:pPr>
            <a:r>
              <a:rPr lang="en-AU" altLang="en-US" sz="1600" b="1" dirty="0">
                <a:ea typeface="Helvetica Neue Light" panose="02000403000000020004" pitchFamily="2" charset="0"/>
                <a:cs typeface="Helvetica Neue Light" panose="02000403000000020004" pitchFamily="2" charset="0"/>
              </a:rPr>
              <a:t>7,022</a:t>
            </a:r>
            <a:br>
              <a:rPr lang="en-AU" altLang="en-US" sz="1100" dirty="0">
                <a:ea typeface="Helvetica Neue Light" panose="02000403000000020004" pitchFamily="2" charset="0"/>
                <a:cs typeface="Helvetica Neue Light" panose="02000403000000020004" pitchFamily="2" charset="0"/>
              </a:rPr>
            </a:br>
            <a:r>
              <a:rPr lang="en-AU" altLang="en-US" sz="1100" dirty="0">
                <a:ea typeface="Helvetica Neue Light" panose="02000403000000020004" pitchFamily="2" charset="0"/>
                <a:cs typeface="Helvetica Neue Light" panose="02000403000000020004" pitchFamily="2" charset="0"/>
              </a:rPr>
              <a:t>total number of students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BF2F37"/>
              </a:buClr>
            </a:pPr>
            <a:r>
              <a:rPr lang="en-AU" altLang="en-US" sz="1600" b="1" dirty="0">
                <a:ea typeface="Helvetica Neue Light" panose="02000403000000020004" pitchFamily="2" charset="0"/>
                <a:cs typeface="Helvetica Neue Light" panose="02000403000000020004" pitchFamily="2" charset="0"/>
              </a:rPr>
              <a:t>3,111</a:t>
            </a:r>
            <a:br>
              <a:rPr lang="en-AU" altLang="en-US" sz="1100" dirty="0">
                <a:ea typeface="Helvetica Neue Light" panose="02000403000000020004" pitchFamily="2" charset="0"/>
                <a:cs typeface="Helvetica Neue Light" panose="02000403000000020004" pitchFamily="2" charset="0"/>
              </a:rPr>
            </a:br>
            <a:r>
              <a:rPr lang="en-AU" altLang="en-US" sz="1100" dirty="0">
                <a:ea typeface="Helvetica Neue Light" panose="02000403000000020004" pitchFamily="2" charset="0"/>
                <a:cs typeface="Helvetica Neue Light" panose="02000403000000020004" pitchFamily="2" charset="0"/>
              </a:rPr>
              <a:t>postgraduate coursework students</a:t>
            </a:r>
            <a:endParaRPr lang="en-AU" altLang="en-US" sz="1100" baseline="30000" dirty="0">
              <a:ea typeface="Helvetica Neue Light" panose="02000403000000020004" pitchFamily="2" charset="0"/>
              <a:cs typeface="Helvetica Neue Light" panose="02000403000000020004" pitchFamily="2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BF2F37"/>
              </a:buClr>
            </a:pPr>
            <a:r>
              <a:rPr lang="en-AU" altLang="en-US" sz="1600" b="1" dirty="0">
                <a:ea typeface="Helvetica Neue Light" panose="02000403000000020004" pitchFamily="2" charset="0"/>
                <a:cs typeface="Helvetica Neue Light" panose="02000403000000020004" pitchFamily="2" charset="0"/>
              </a:rPr>
              <a:t>3,781</a:t>
            </a:r>
            <a:br>
              <a:rPr lang="en-AU" altLang="en-US" sz="1100" dirty="0">
                <a:ea typeface="Helvetica Neue Light" panose="02000403000000020004" pitchFamily="2" charset="0"/>
                <a:cs typeface="Helvetica Neue Light" panose="02000403000000020004" pitchFamily="2" charset="0"/>
              </a:rPr>
            </a:br>
            <a:r>
              <a:rPr lang="en-AU" altLang="en-US" sz="1100" dirty="0">
                <a:ea typeface="Helvetica Neue Light" panose="02000403000000020004" pitchFamily="2" charset="0"/>
                <a:cs typeface="Helvetica Neue Light" panose="02000403000000020004" pitchFamily="2" charset="0"/>
              </a:rPr>
              <a:t>undergraduate coursework students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BF2F37"/>
              </a:buClr>
            </a:pPr>
            <a:r>
              <a:rPr lang="en-AU" altLang="en-US" sz="1600" b="1" dirty="0">
                <a:ea typeface="Helvetica Neue Light" panose="02000403000000020004" pitchFamily="2" charset="0"/>
                <a:cs typeface="Helvetica Neue Light" panose="02000403000000020004" pitchFamily="2" charset="0"/>
              </a:rPr>
              <a:t>130</a:t>
            </a:r>
            <a:br>
              <a:rPr lang="en-AU" altLang="en-US" sz="1100" dirty="0">
                <a:ea typeface="Helvetica Neue Light" panose="02000403000000020004" pitchFamily="2" charset="0"/>
                <a:cs typeface="Helvetica Neue Light" panose="02000403000000020004" pitchFamily="2" charset="0"/>
              </a:rPr>
            </a:br>
            <a:r>
              <a:rPr lang="en-AU" altLang="en-US" sz="1100" dirty="0">
                <a:ea typeface="Helvetica Neue Light" panose="02000403000000020004" pitchFamily="2" charset="0"/>
                <a:cs typeface="Helvetica Neue Light" panose="02000403000000020004" pitchFamily="2" charset="0"/>
              </a:rPr>
              <a:t>Higher Degree Research students </a:t>
            </a:r>
          </a:p>
          <a:p>
            <a:endParaRPr lang="en-US" sz="1000" dirty="0"/>
          </a:p>
          <a:p>
            <a:r>
              <a:rPr lang="en-US" sz="1000" dirty="0"/>
              <a:t>(2025 ANU student data)</a:t>
            </a:r>
          </a:p>
        </p:txBody>
      </p:sp>
      <p:pic>
        <p:nvPicPr>
          <p:cNvPr id="13" name="Graphic 12" descr="Classroom with solid fill">
            <a:extLst>
              <a:ext uri="{FF2B5EF4-FFF2-40B4-BE49-F238E27FC236}">
                <a16:creationId xmlns:a16="http://schemas.microsoft.com/office/drawing/2014/main" id="{906491C8-AD93-1743-B6C3-BEA270239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2937" y="1024120"/>
            <a:ext cx="1079864" cy="1079864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AD2B61D8-1DA8-8F0A-0ED0-6CEE593CF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937" y="4914000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76B8B8-57DC-E49F-289E-CC5677C24B1E}"/>
              </a:ext>
            </a:extLst>
          </p:cNvPr>
          <p:cNvSpPr txBox="1"/>
          <p:nvPr/>
        </p:nvSpPr>
        <p:spPr>
          <a:xfrm>
            <a:off x="144779" y="4863796"/>
            <a:ext cx="358140" cy="19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10A01DC5-1685-4615-8240-15192985C6A2}" type="slidenum">
              <a:rPr kumimoji="0" lang="en-AU" sz="600" b="0" i="0" u="none" strike="noStrike" kern="1200" cap="all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ublic Sans Ligh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351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8E5A7E-020A-4E2A-9975-F8F1F85A24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1595" y="307792"/>
            <a:ext cx="5377013" cy="416229"/>
          </a:xfrm>
        </p:spPr>
        <p:txBody>
          <a:bodyPr>
            <a:normAutofit/>
          </a:bodyPr>
          <a:lstStyle/>
          <a:p>
            <a:r>
              <a:rPr lang="en-AU" sz="3200" dirty="0"/>
              <a:t>What can you study at CBE?</a:t>
            </a:r>
          </a:p>
        </p:txBody>
      </p:sp>
      <p:cxnSp>
        <p:nvCxnSpPr>
          <p:cNvPr id="34" name="Straight Connector 33"/>
          <p:cNvCxnSpPr>
            <a:cxnSpLocks/>
          </p:cNvCxnSpPr>
          <p:nvPr/>
        </p:nvCxnSpPr>
        <p:spPr>
          <a:xfrm>
            <a:off x="2883088" y="1060264"/>
            <a:ext cx="0" cy="34072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cxnSpLocks/>
          </p:cNvCxnSpPr>
          <p:nvPr/>
        </p:nvCxnSpPr>
        <p:spPr>
          <a:xfrm>
            <a:off x="6022887" y="1181404"/>
            <a:ext cx="0" cy="20621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utoShape 2" descr="data:image/jpg;base64,%20/9j/4AAQSkZJRgABAQEAYABgAAD/2wBDAAUDBAQEAwUEBAQFBQUGBwwIBwcHBw8LCwkMEQ8SEhEPERETFhwXExQaFRERGCEYGh0dHx8fExciJCIeJBweHx7/2wBDAQUFBQcGBw4ICA4eFBEUHh4eHh4eHh4eHh4eHh4eHh4eHh4eHh4eHh4eHh4eHh4eHh4eHh4eHh4eHh4eHh4eHh7/wAARCABdAGM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b+OPhmTx5+1/ongu68Q63pOn3OgmZ20658tgyCVhjORzgZ4rgNQ0j9nuwv7ixuvjh8RUnt5WilXzGOGUkEf6r1Fev+Iv+T/vDX/Yty/8AoE1fNPjD9nL40X3i3WL218D3ElvcX88sTi8thuRpGIPMmehoA9Qk8Gaf4F+NPwdvPC/jTxPrWl+JLpbrOpXe4NH8hTCgL1D8givRPjTqeuTePbeLxnM/h+Gx1Hd4GGn3DD+2rnC/uroAthN3lj+D7x5rnPG+mX2i/EL9mrSNTtzb31lBFb3ERYExyIkKsuQSDgg9DUHxX8U+GdB+M974e0zXpvE2reKNTWwvrW9D/wDFOFgqrJall2hzvJyp/gFAHfz/ABa+JV5pMPhnw94b0G8+J1iRLr2jSO4t7W3bO10feAxIaLgOcbjXjVpoHjv4tftOXfhr4nXmo+EbtNFFy1toV4VQKm0IRlnHO8k/SvSPjl8I/E2l/Cnw7o/gnUNUvdQs9R36xrn2hIb17TEhZpZNys6pkYXJ+6OOK+dviz8S7LS9ITwL4B8QXGvQxSpcf8JbI0sWpTZyWty5Ct5YJHHTigD1X4k/ErxB+zDrcPw/8LbPEllcwDUnu9fkkmuFdyVKAxsgCgRg4x1J5rmj8WPBFmT4Ns/GGtz+GvF2bzxHqcrSm70qc/N5dqcYCbgAcq3B61P8H9B8IeAfFVn4m/aD8U3Nt4mWJza6RqkR1COW1dNqSsyiQDkvhSQQR0rpf2vvgz4h8a6/4b1b4W+DLS50xtNJlksRBbKxZtykhiucqRzigD1T4S/EqTRZNI8K+LpILfTNUMNr4KvAXluNVtgoCyznJCuQUJyE5Y8Vzn7ckd1eXHw30eDU77T4tS102s0lpMY32P5akgjuMnGa8V/Z++JOm/C3Q/Gtn48kjuPFGilU0LTtSV5/KniDq0cbgMIvm2g4IHFei/HLxTceNvDPwF8WXdrFaT6nrkc8kMTEqhLxjAJ57UAc/wCOPBPwP8F+KLvw34i+NHxEtNTtNnnRCYvt3KHXlYsHhhWB8U/BHhTSfgxbfEj4ffEjxprMEmrR2K/bbsqh+9u+XYrZBA9qvftTfA74qeMPjp4g8Q+G/CU1/pd19n8m4W6gQPtgjVuGcHhlI5HarHjvwh4j8EfsRafoPinTH03Uk8UpI0DSI5CsXKnKEjn60AfbGiEtotizEkm3jJJ7/KKKNC/5Alh/17R/+giigD5v/aW8NfD26+LFp4g174xXPgfXYtOSKKK2jPmeVl/mDAgjOSMe1cB9g+Hv/R3HiL/v5L/8VWh+0o0yftdaM1v4Di8dSf2EMaNKoZZf9b82CCPl69O1fLvhrSNI1/4ljSfEOpQ+EdOuLyUXEzx7kshljsxkdCNvagD63Pw/8CeCfFngvx740+POp6lHG66hpA1JC63EeFbKnJKg5X9K53xX4g+GNr8XLjU/COsaf4v1Px7qC2skxi2yaCThVmgYjl8vkdPuCuUTwv8AE/8A4Q7XvCk3w91P4haVLF9n8L69cDzBZWw4SW2B3bVdNjAKR0Feu/s3eE5tP8F3C+J/gHZWWu+G7JZ7C/ubZPtGp3ALsACVyrAhecnqKALHiCz17R5dN+HfjbxfrOgeHNKvImsPFc1yWl16ZySbSRQfu4dhySMJz1rlPFEHwy8H/tm38PiTT9B0zQT4eXyYprRfs4uW27SFCkBjg84rhfEPx08UW/xq1STx94BfVEZoVs/C+p3JePTrgBNksYZSA5GeQoPz123iH4rXviT4gyaTr37MOn6p4sitVnkiutslysC8hiTFnaMjH1oAq2Wj+FLz4Wal4S+O3iZPDniq61E3On32oILi8jsgylNjckRkhxjI6nitHVNe/aEfxz4Z1vw/8PNVfQvD9sbW3tob4i31SHaVSWQA4yV2sODiuT+JPjDxR+0B4MuToPwID3kUqWy63bkTS24jYMYg2wHGDjGcc10/gjxZqfxrk0vw7D8StR+GGt6NENLj0mzuXZtRZEy0uAyYI2kY56daAMPwX8PfiNrni/xTZ+Lvg+sFr42vWNxq0yo8mjLIzFpIsnnG7PbOBXqXir4Z+AvFHgrSPh5bfEyWyu/hqjTXtxBCPOhGM73GRtxtzwT0qhrXwp8VaLrGmaPq37UXiaz1DVZDHYW8skge4YY4Uedz1H51yMmsaXH441TwLPrg0rxB4dmWO8vtwFx43kxj7Nceu77vzF/vdKANeb4d6ND4Y03xPL+1B4pXR9Un+z2V2ZX2TSbipUfPnOVI59Kn1b4B6Trvin/hAdY+PniPVNVijW+bSroGQhB0k2s+O/15rx/4k+DvjV4w11BB8PNe8LeFoJo5bPSLfP2PTcKA8iKNqqSdzkgDkmvXvhH8VPh74T+KP/CPa34k0zxPcJYMx8e3sn7+bcQRa7iGbaOg+c9KAPrGygFrZwWwYsIo1jDHvgYzRT43WSNZI2DIwDKR0IPeigDzH47+FNEuNFm8VJ4ksPA/iCBY7eLxPKi+ZbxF+Y9xZeGyV696+cvhd8ENL1H4OeO5viKlvoWoNqhay8TapAQBD8h85SzKCjknnPO7rXr/AO0YskfihLnU7pfF2hLZIJfANuA11ePvOLlVHz7UOGJA/hrhNau9X1LwPqfw01bxINW0vxAfNXXwE+w+GY1KlbO4IOFZdgGCwPzCgCS71bXL/wAPaN4bX4mSfCrTfDlsmn6fqVy6+V4khRFVbqHLLhMKDwXGJBzVvwp4H8e+LJLiPwz+1c2sPbBTOtnEJTGGzgnEvGcH8q434pav/bnw1t/AP/ClvEXiC90LTRpej+JIbd3gfYqoLmLapBRwgYcngiuH/ZK8ba/8LPE3im1Hw88Q+ILyaKGK4tbOBhLaFGb/AFi7SRnd3x0oA+q/+Fd/DPwhomm6z8XL7QNX8QCULJ4h1ZVgkupQS0f3m6qoAHJ4WvlL9qn4jSQ/tD3vif4d+Kxh9Lhtft2m3AYMpX503Dg9s17t4m/tzxP9g8beOfBOueJvDOu3UVvZeD5bRhNosoyhuZCBnBCseg4kFYHx0h+Dfwu8QNpl98A5b3TzHHt1eNnjty7g/IGPG4YPGe1AHm/w3+JK+E/2Q/ENrovi2PS/FsmvLLBFFOFumjYxbmVeuCA2T9a9ctvBvhaW58P/ABv+Ga2Ou6h4eslfU9F0dA82o3kqYYs6k7HHmMxGwnivModO+F/wp0B/7e8Aw/E2yuJftH/CQWEhFrbB8BbVnBKh1xkgkH5hxVe70nU/hl4D1jxR8O/jrodpbXbJeroVjMhuG3kBY8FidyK2Dx/CaAL3w6+O0Fx8b5D8VPD/ANoY63/xLZtTuQp8N5chgMr0X5c/d+7XfeB/DOmT/GT4qfFTXPCqa1odrGNW0C/kTMFwYwX3QSfdP3RyM4ridC+Edx+0FoFhrtno0vgvVbaFG1TU761dl12aUbjcJjA6gk44+epfil498ZfDbSfCPwnt9D1tbDRbj7DfXIhKweIYTt3RRgqeCGI4JPNAHpPif9qvw7J8INP1ux0mC71vWXls5dEj1JTPaffUO2EyQcKR8ozuFec/sm/ArQZPEaXfxEmsW1j7PMf+ES1G223KJuXZcFS2cdcfL361DYeKvhXdeIpdBsP2aNUtdat8M6/O0tnnGJXTGQBkNzgUnhn4e/FvWv2gpL3R/iY+oSnTcnxha2/m2sqDaDbh1ym4HjGe1AH3PGixxrHGoVFAVQOgA7UUlusiW8aSyeZIqAM+Mbjjk0UAfOWv/wDJ/wD4d/7FuX/0CWuO1P4W678Mj4hk17xRYeI/CmrXcuoXvhCzjIu9SDN8uz+PK/KSVP8ADVj45WHjTUv2ztEtPAOs2ej662gExXV2m+NUAl3gja3UZHSvNfhx4x8bax+1l4Vn+KGogXWmSz2iT3EC2ybFEnI+VQQWzgmgDsPhZ45+KqajqOuS6pe6F4Q0CYHTvCN1ZIl3fWihtlrblkDOyoFBOSelbC+OIfgz4g1P4w69o+oXFv8AEhlktdKCiK5sPKGWE2/gk7xjFaHj74qeCfiJ8RU0XQtA1ZPF3h+8mtNH8RyhW0+xn3Y8+Qq5Biymcsp47V5trngX42fG/wAS6r4a8UeLdGmtvCbeZFqE0BhtJxIOXikSL5xhByelAHsGkfFTxr8d7H+z/hgmqeAprU/apNV1C1We3uowShiQ7SN24g8f3TXIfFf4WfFHxHpLeHfH/wAfPCs0ETrdCyukjgbcA21sAK3Qn2rnb74t678JfB+hfCbwfNLqOs+G7rztY1DToEubS4tnZpWSMnJ/5aKCxVcEHmvJ/wBobxRP8XviRceNPDXhrXE02S2igHmWxcho1w2SmV7+tAHR/BvwP4i8bfCjVPDqfFjw54e8Pvqh87S7+RFaaRApEoJ+bbwuOcfLWzq3iL4AeE5I9H1/4Ga1JdwL5RupL2WJbsr8plQFxlWIJGOOa8Ys9R8Bx/Cu/wBLu9B1B/Gj3qva6kJcQRwAruQru68N/Ceo5r03wf4H+I37RWgNr2qeMNDtrTwyiabG+o5hCR7Qw5RMY6csc0AfRvwc8faho1/oemxTT+JfD3iaSJdFtdOjRl8NW2PlhuWXnIVlGWOfkJzWJ+0DdanpHiTU9R1vd4/KXDSeGNO0uINN4cuQgKyzBOSCduA+QdvSuM/Zyh8QfDHwF8X7eGdItcs026VKqblvJY1kw0AYfvR0IwDkEVZ/Y58Sa5ZeMfiL428dW96l9eWUdw3m2/kPeSqXYpEpChnIAAUe1AE3wb+FHxt8T3C/Fa48eRaRquvIYNShvdPxPJAj+XsZCgUZWMYwBxjmvTPjo7fCj4SQ+HfgxjS9Uj1OKQ6fYj7VcLDIWMjmN97bSQvzY49a6H4bfHTSfH17faXBoGu+GJ47YvDc63AkELuTtVVO45bJzj0BrwL4neCPj/8ADrxEPi/deK9L1jW5THpkh02zaSTymH/PMxBdvyjJ68igD7V015pNOtpLjPnNChkyMHdgZ4+tFGmySy6dbSzjErwoz8Y+YgZ4+tFAHk2t+AdQb9qPSfiW+p6XDpVpo72ckEk+2cuQ4BC4xj5hzmuC+JvwZ1r4m+HtcvfG2ueHrrxbBM0Xhy5t7sxQw2m8MElUDBblucHr1rI+NngnQviF+2joXhfxHHO+nT+H2kdYZTG2UErLz9RXmmqx/sh6bqd3p1xp/jvzrWZ4ZNr5G5WKnHzdMigD2vwz8DW8OaLo3hXw7qWjDRdat0h8cQyXbPLesEAP2c4ygyXxjb1FeT678TPFfhr4vv8AArSbm2j8Dw6jHoi2j26tL9lkKqy+afmyQ7fNnNaN38PfAfg341fBLWvAcOoxWPiK4S8/0yYu5QhGTj+E4fkVz/7Sy+FZ/wBoezT4b2+pL46XXV/tJ7wZtfPzH5RTr8uc54oA+p/BnwJ8B+ArfW5/B1hPZ32p6bLYvJcXbyqFYejE45A59q8a+G3w+/aC+HvhhfDfh3xv4Fi0pJnmMUjCVssfm5MeefSvXfhRZ/Gq71HVtP8AizeeGbjSp7Fooo9LJEodiAc8DA2lvxxXxD+1J8P9K+HfxeuNA8K218NPitYJ081jKwZhk/NjpkUAfR/wy+DP7PnxD0O41yDQ9ZsGju5LeZL6/eFmkXBZlXcflJPFW/iT/wAKP+CHhu4+Gd74d8QXOm+K4xdzxWcxlZwjAD5mcEHKjpXA6CfA/wATvg7dfGD43xalcXGkXa6SraQfKzENmwbM4J3SHJyOKi+LGi/GzQ5tJ+MVxe+GBp3he1X+xVVsyi0kO2MNGV+dtrjPNAHbX+h3EPwzvPiJqt5pxj8Kaf8Abvh/AJCs9jCEzGlyhx5jjEYIbdyDXMP4R/aB+Mvhvwd4z1LxV4VSGGYahpKyKIXWTcMFgqYY/KOOa8y/ab8KaZFovgvx1p0M8mr+LrFtT1go5eP7Q4R22r/AMu3Ga73wb8WvgtcfDXwDofjax8Uyar4OKzx/Y4MRpMrZyTuG5eB1AoAi8W2nxv8Aib8TLr4a+LNc0G4l8JNFq9wYYRGjDajfKVTLHa/Qgc19G/Cfxr4o+Ini/wD4SrS7y3tfAMto8MWm3kAj1BblGALkDPydf4vwr5F1v47XkH7S+r+PPh+4is9bNraML+2BYxBIlbK5+U5Q856V9H/tPiD4fS/8Lk8HlX8XzS2+ku0jedELZs5/d9M/KvNAH0RRVfTZpLjTraeUASSQo7ADHJAJooA+d/EX/J/3hr/sW5f/AECavCfFf7J/xe1HxRq2oW1no5gur2aaMtqCg7WckZGPQ19UfF74AeFfiX4vh8T6tq2tWN9FarbL9imVBtBJ7qTn5j3rkv8AhkfwV/0NvjD/AMDl/wDiaAOZ+IOj3vh/4l/s3aFqKot5p0UdrcBG3KJEWFWwe4yDUnw91CXRfjf+0LrtrBBLd6dbrc2/nJuUOiSMM98ZA6EV2vg/9l7wZ4a8Y6R4ot9f8R3l5pVwtxAl1cq6Fh2Py5x9K9C8IfDXQvDPjvxT4ws5rua98TMjXkUzK0S7c8KMd8nqTQB8ufDb4ha/4sfVPHfw8FvP8TpbIyeJLTUFddNSzjOFa3Xd9/5YsgserYFfQH7M3jLUvin8JoPFHiix077fNcz27/Z4NqFFOBwxJ7+teo21hY2xY29lbQlhtYxxKuR6HAryb4lfs+eFfHHi7/hI7vWde02Xy44/s+n3CxQgJ0IXbwT3oA8D+MvgzXtK8RL+zj8M4IJtL16Ia3M2oyDzvNVmZgJBhVQCJeNpPvzXJL46+H/ji3XS/j3d6zY6n4dH9mWKaBHtjeFOGMmdwLBl6jHHavtz4k+ANH8d+D5vDepT3dpHIIx9rtHCXChGDAByDwcc1xPxU/Z08EfEObSJtUudStH0uzFojWjIplUfxPlTlvegD5V+Cfxh8IfC/SviLb6W15dyXUm7wwt9becrBd4TzcEbeCucYr074Naz4B8ZeA/iX4psI7r/AITbUfDss2vwNCFtI32SY8gYJAJGeprp/wDhi/4Z/wDQZ8R/9/4//iK1PCv7JfgHw5r1lrFhrniPzbSeOYRm4QJIUYMFYBeVOORQB4F+zL8MPgr8SvDjWusX3ihPFFhay3eopbyKkCxrIQpQlDk7dvGeua6r4U+Ov2Zfh74q/tzQ9Z8b3d08DWwS/i82LaxHO0KOeBX0/wDEr4X+HvHOn2FndyXWlrZXiXavpzLC0hX+Fjjlahi+EvhSP4tS/EhYZP7SksRZm2Kp9nC8fMF253YA5zQB3lvKk8Ec0eSkihlyMcEZFFPHAooA/9k=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22" name="Picture 21" descr="A group of people sitting at desks in a classroom&#10;&#10;Description automatically generated with medium confidence">
            <a:extLst>
              <a:ext uri="{FF2B5EF4-FFF2-40B4-BE49-F238E27FC236}">
                <a16:creationId xmlns:a16="http://schemas.microsoft.com/office/drawing/2014/main" id="{897203CF-7177-C741-A410-37D8177D11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9" r="9822"/>
          <a:stretch/>
        </p:blipFill>
        <p:spPr bwMode="auto">
          <a:xfrm>
            <a:off x="5853495" y="0"/>
            <a:ext cx="3290505" cy="46581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33635D-382D-37F8-553D-0D02D6213F20}"/>
              </a:ext>
            </a:extLst>
          </p:cNvPr>
          <p:cNvSpPr txBox="1"/>
          <p:nvPr/>
        </p:nvSpPr>
        <p:spPr>
          <a:xfrm>
            <a:off x="246617" y="935863"/>
            <a:ext cx="2542893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 defTabSz="6858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sz="1500" dirty="0"/>
              <a:t>Accounting                    </a:t>
            </a:r>
            <a:r>
              <a:rPr lang="en-AU" sz="1100" dirty="0">
                <a:solidFill>
                  <a:schemeClr val="accent1"/>
                </a:solidFill>
                <a:latin typeface="+mj-lt"/>
              </a:rPr>
              <a:t>(Top 50 in the world)*</a:t>
            </a:r>
          </a:p>
          <a:p>
            <a:pPr marL="180000" lvl="2" indent="-180000" defTabSz="6858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sz="1500" dirty="0"/>
              <a:t>Actuarial Studies</a:t>
            </a:r>
          </a:p>
          <a:p>
            <a:pPr marL="180000" lvl="2" indent="-180000" defTabSz="6858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sz="1500" dirty="0"/>
              <a:t>Business Analytics</a:t>
            </a:r>
          </a:p>
          <a:p>
            <a:pPr marL="180000" lvl="2" indent="-180000" defTabSz="6858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sz="1500" dirty="0"/>
              <a:t>Business Information Systems                          </a:t>
            </a:r>
            <a:r>
              <a:rPr lang="en-AU" sz="1100" dirty="0">
                <a:solidFill>
                  <a:schemeClr val="accent1"/>
                </a:solidFill>
                <a:latin typeface="+mj-lt"/>
              </a:rPr>
              <a:t>(#37 in the world)*</a:t>
            </a:r>
          </a:p>
          <a:p>
            <a:pPr marL="180000" lvl="2" indent="-180000" defTabSz="6858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sz="1500" dirty="0"/>
              <a:t>Commerce</a:t>
            </a:r>
          </a:p>
          <a:p>
            <a:pPr marL="180000" lvl="2" indent="-180000" defTabSz="6858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sz="1500" dirty="0"/>
              <a:t>Corporate Sustainability</a:t>
            </a:r>
          </a:p>
          <a:p>
            <a:pPr marL="180000" marR="0" lvl="2" indent="-18000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BE830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500" dirty="0"/>
              <a:t>Economics                     </a:t>
            </a:r>
            <a:r>
              <a:rPr lang="en-AU" sz="1100" dirty="0">
                <a:solidFill>
                  <a:srgbClr val="BE830E"/>
                </a:solidFill>
                <a:latin typeface="Public Sans"/>
              </a:rPr>
              <a:t>      </a:t>
            </a:r>
            <a:r>
              <a:rPr kumimoji="0" lang="en-AU" sz="1100" i="0" u="none" strike="noStrike" kern="1200" cap="none" spc="0" normalizeH="0" baseline="0" noProof="0" dirty="0">
                <a:ln>
                  <a:noFill/>
                </a:ln>
                <a:solidFill>
                  <a:srgbClr val="BE830E"/>
                </a:solidFill>
                <a:effectLst/>
                <a:uLnTx/>
                <a:uFillTx/>
                <a:latin typeface="Public Sans"/>
                <a:ea typeface="+mn-ea"/>
                <a:cs typeface="+mn-cs"/>
              </a:rPr>
              <a:t>(#1 in Australia, #39 in the world</a:t>
            </a:r>
            <a:r>
              <a:rPr kumimoji="0" lang="en-AU" sz="1100" u="none" strike="noStrike" kern="1200" cap="none" spc="0" normalizeH="0" baseline="0" noProof="0" dirty="0">
                <a:ln>
                  <a:noFill/>
                </a:ln>
                <a:solidFill>
                  <a:srgbClr val="BE830E"/>
                </a:solidFill>
                <a:effectLst/>
                <a:uLnTx/>
                <a:uFillTx/>
                <a:latin typeface="Public Sans"/>
                <a:ea typeface="+mn-ea"/>
                <a:cs typeface="+mn-cs"/>
              </a:rPr>
              <a:t>)*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FB55FB-7BE9-DC2F-B352-3868A02F5B73}"/>
              </a:ext>
            </a:extLst>
          </p:cNvPr>
          <p:cNvSpPr/>
          <p:nvPr/>
        </p:nvSpPr>
        <p:spPr>
          <a:xfrm>
            <a:off x="3045657" y="935863"/>
            <a:ext cx="2562545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marR="0" lvl="2" indent="-1800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BE830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500" dirty="0"/>
              <a:t>Entrepreneurship</a:t>
            </a:r>
          </a:p>
          <a:p>
            <a:pPr marL="180000" marR="0" lvl="2" indent="-1800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BE830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500" dirty="0"/>
              <a:t>Finance                            </a:t>
            </a:r>
            <a:r>
              <a:rPr kumimoji="0" lang="en-AU" sz="1100" b="0" u="none" strike="noStrike" kern="1200" cap="none" spc="0" normalizeH="0" baseline="0" noProof="0" dirty="0">
                <a:ln>
                  <a:noFill/>
                </a:ln>
                <a:solidFill>
                  <a:srgbClr val="BE830E"/>
                </a:solidFill>
                <a:effectLst/>
                <a:uLnTx/>
                <a:uFillTx/>
                <a:latin typeface="Public Sans"/>
                <a:ea typeface="+mn-ea"/>
                <a:cs typeface="+mn-cs"/>
              </a:rPr>
              <a:t>(Top 50 in the world)*</a:t>
            </a:r>
            <a:endParaRPr lang="en-AU" sz="1500" dirty="0"/>
          </a:p>
          <a:p>
            <a:pPr marL="180000" lvl="2" indent="-180000" defTabSz="6858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sz="1500" dirty="0"/>
              <a:t>International Business</a:t>
            </a:r>
          </a:p>
          <a:p>
            <a:pPr marL="180000" lvl="2" indent="-180000" defTabSz="6858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sz="1500" dirty="0"/>
              <a:t>Management</a:t>
            </a:r>
          </a:p>
          <a:p>
            <a:pPr marL="180000" lvl="2" indent="-180000" defTabSz="6858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sz="1500" dirty="0"/>
              <a:t>Marketing </a:t>
            </a:r>
          </a:p>
          <a:p>
            <a:pPr marL="180000" lvl="2" indent="-180000" defTabSz="6858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sz="1500" dirty="0"/>
              <a:t>Project Management </a:t>
            </a:r>
          </a:p>
          <a:p>
            <a:pPr marL="180000" marR="0" lvl="2" indent="-18000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BE830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500" dirty="0"/>
              <a:t>Statistics                           </a:t>
            </a:r>
            <a:r>
              <a:rPr kumimoji="0" lang="en-AU" sz="1100" b="0" i="0" u="none" strike="noStrike" kern="1200" cap="none" spc="0" normalizeH="0" baseline="0" noProof="0" dirty="0">
                <a:ln>
                  <a:noFill/>
                </a:ln>
                <a:solidFill>
                  <a:srgbClr val="BE830E"/>
                </a:solidFill>
                <a:effectLst/>
                <a:uLnTx/>
                <a:uFillTx/>
                <a:latin typeface="Public Sans"/>
                <a:ea typeface="+mn-ea"/>
                <a:cs typeface="+mn-cs"/>
              </a:rPr>
              <a:t>(#1 in Australia, #59 in the world)^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43976B72-666A-9CEB-DB14-D1D9D46D7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00" y="4471753"/>
            <a:ext cx="55188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Public Sans Ligh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Public Sans Ligh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Public Sans Ligh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ublic Sans Ligh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ublic Sans Light" pitchFamily="2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ublic Sans Light" pitchFamily="2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ublic Sans Light" pitchFamily="2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ublic Sans Light" pitchFamily="2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ublic Sans Light" pitchFamily="2" charset="0"/>
              </a:defRPr>
            </a:lvl9pPr>
          </a:lstStyle>
          <a:p>
            <a:pPr eaLnBrk="1" hangingPunct="1"/>
            <a:r>
              <a:rPr lang="en-AU" altLang="en-US" sz="700" i="1" dirty="0"/>
              <a:t>* QS World University Rankings by Subject 2025                                                                                         </a:t>
            </a:r>
          </a:p>
          <a:p>
            <a:pPr eaLnBrk="1" hangingPunct="1"/>
            <a:r>
              <a:rPr lang="en-AU" altLang="en-US" sz="700" i="1" dirty="0"/>
              <a:t> ^ Times Higher Education World University Rankings 2025 by Subject: Mathematics and Statistics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435597-F954-9786-410C-694FD92C28A3}"/>
              </a:ext>
            </a:extLst>
          </p:cNvPr>
          <p:cNvSpPr txBox="1"/>
          <p:nvPr/>
        </p:nvSpPr>
        <p:spPr>
          <a:xfrm>
            <a:off x="179307" y="4896875"/>
            <a:ext cx="39878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10A01DC5-1685-4615-8240-15192985C6A2}" type="slidenum">
              <a:rPr kumimoji="0" lang="en-AU" sz="600" b="0" i="0" u="none" strike="noStrike" kern="1200" cap="all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ublic Sans Ligh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lang="en-US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CD35A200-B987-640B-E326-642418078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7845" y="4945267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21767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E6FE8-F0E0-430B-829F-02ADA0D0A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914000"/>
            <a:ext cx="360000" cy="108000"/>
          </a:xfrm>
        </p:spPr>
        <p:txBody>
          <a:bodyPr/>
          <a:lstStyle/>
          <a:p>
            <a:fld id="{10A01DC5-1685-4615-8240-15192985C6A2}" type="slidenum">
              <a:rPr lang="en-AU" smtClean="0"/>
              <a:pPr/>
              <a:t>17</a:t>
            </a:fld>
            <a:endParaRPr lang="en-AU"/>
          </a:p>
        </p:txBody>
      </p:sp>
      <p:sp>
        <p:nvSpPr>
          <p:cNvPr id="22" name="Content Placeholder 1">
            <a:extLst>
              <a:ext uri="{FF2B5EF4-FFF2-40B4-BE49-F238E27FC236}">
                <a16:creationId xmlns:a16="http://schemas.microsoft.com/office/drawing/2014/main" id="{AAAD86E7-467C-7B73-4980-1C70CE62E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14" y="1038959"/>
            <a:ext cx="3906408" cy="594489"/>
          </a:xfrm>
        </p:spPr>
        <p:txBody>
          <a:bodyPr>
            <a:normAutofit/>
          </a:bodyPr>
          <a:lstStyle/>
          <a:p>
            <a:pPr lvl="1">
              <a:lnSpc>
                <a:spcPct val="110000"/>
              </a:lnSpc>
              <a:spcAft>
                <a:spcPts val="0"/>
              </a:spcAft>
            </a:pPr>
            <a:r>
              <a:rPr lang="en-AU" dirty="0"/>
              <a:t>CBE students and alumni have access to an innovative and engaged CBE Careers and Student Employability team to help them become job ready in the global market.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A80230C-C066-4D7D-8313-68822AB9AC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9" y="324001"/>
            <a:ext cx="4248151" cy="594489"/>
          </a:xfrm>
        </p:spPr>
        <p:txBody>
          <a:bodyPr>
            <a:normAutofit/>
          </a:bodyPr>
          <a:lstStyle/>
          <a:p>
            <a:r>
              <a:rPr lang="en-AU" dirty="0"/>
              <a:t>Real-World Skills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42EF1F-7329-0756-3541-0C93C8AC8FD6}"/>
              </a:ext>
            </a:extLst>
          </p:cNvPr>
          <p:cNvSpPr/>
          <p:nvPr/>
        </p:nvSpPr>
        <p:spPr>
          <a:xfrm>
            <a:off x="5399406" y="2254209"/>
            <a:ext cx="3060592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1600" b="1" dirty="0"/>
              <a:t>Ranked #1 in Australia and #32 in the world for Graduate Employability</a:t>
            </a:r>
            <a:br>
              <a:rPr lang="en-AU" sz="1100" dirty="0"/>
            </a:br>
            <a:r>
              <a:rPr lang="en-AU" sz="1100" dirty="0"/>
              <a:t> </a:t>
            </a:r>
          </a:p>
          <a:p>
            <a:pPr algn="ctr"/>
            <a:r>
              <a:rPr lang="en-AU" sz="1100" dirty="0"/>
              <a:t>(Times Higher Education Global University Employability Rankings 2024)</a:t>
            </a:r>
          </a:p>
          <a:p>
            <a:pPr algn="ctr"/>
            <a:endParaRPr lang="en-US" dirty="0"/>
          </a:p>
        </p:txBody>
      </p:sp>
      <p:pic>
        <p:nvPicPr>
          <p:cNvPr id="29" name="Graphic 8" descr="Briefcase with solid fill">
            <a:extLst>
              <a:ext uri="{FF2B5EF4-FFF2-40B4-BE49-F238E27FC236}">
                <a16:creationId xmlns:a16="http://schemas.microsoft.com/office/drawing/2014/main" id="{8BD85DD9-D120-3887-CCCA-4C04449A9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67524" y="593000"/>
            <a:ext cx="1724357" cy="1724357"/>
          </a:xfrm>
          <a:prstGeom prst="rect">
            <a:avLst/>
          </a:prstGeom>
        </p:spPr>
      </p:pic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3A10D5FF-9231-D22B-A174-E1C323D73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4200" y="4914000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 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5412A-AB3F-F3DE-47A9-FA4395CD0FD6}"/>
              </a:ext>
            </a:extLst>
          </p:cNvPr>
          <p:cNvSpPr txBox="1"/>
          <p:nvPr/>
        </p:nvSpPr>
        <p:spPr>
          <a:xfrm>
            <a:off x="286511" y="1866900"/>
            <a:ext cx="16802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/>
              <a:t>One-to-one services</a:t>
            </a:r>
          </a:p>
          <a:p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1983413-7613-65ED-5D21-0FB91E76F458}"/>
              </a:ext>
            </a:extLst>
          </p:cNvPr>
          <p:cNvSpPr txBox="1">
            <a:spLocks/>
          </p:cNvSpPr>
          <p:nvPr/>
        </p:nvSpPr>
        <p:spPr>
          <a:xfrm>
            <a:off x="376304" y="2190941"/>
            <a:ext cx="1919175" cy="75015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Times New Roman" panose="02020603050405020304" pitchFamily="18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ofia Pro Light" panose="020B0000000000000000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AU" dirty="0"/>
              <a:t>Career planning</a:t>
            </a:r>
            <a:endParaRPr lang="en-AU" dirty="0">
              <a:sym typeface="Ubuntu Light"/>
            </a:endParaRPr>
          </a:p>
          <a:p>
            <a:pPr lvl="2"/>
            <a:r>
              <a:rPr lang="en-AU" dirty="0"/>
              <a:t>Job search strategies</a:t>
            </a:r>
          </a:p>
          <a:p>
            <a:pPr lvl="2"/>
            <a:r>
              <a:rPr lang="en-AU" dirty="0"/>
              <a:t>Resume review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05D9AE-CB6B-7A49-0B61-EB37052BC8F7}"/>
              </a:ext>
            </a:extLst>
          </p:cNvPr>
          <p:cNvSpPr txBox="1">
            <a:spLocks/>
          </p:cNvSpPr>
          <p:nvPr/>
        </p:nvSpPr>
        <p:spPr>
          <a:xfrm>
            <a:off x="2318745" y="2190941"/>
            <a:ext cx="2110036" cy="7924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Times New Roman" panose="02020603050405020304" pitchFamily="18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ofia Pro Light" panose="020B0000000000000000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AU" dirty="0"/>
              <a:t>Job applications</a:t>
            </a:r>
          </a:p>
          <a:p>
            <a:pPr lvl="2"/>
            <a:r>
              <a:rPr lang="en-AU" dirty="0"/>
              <a:t>Interview preparation</a:t>
            </a:r>
          </a:p>
          <a:p>
            <a:pPr lvl="2"/>
            <a:r>
              <a:rPr lang="en-US" dirty="0"/>
              <a:t>L</a:t>
            </a:r>
            <a:r>
              <a:rPr lang="en-AU" dirty="0"/>
              <a:t>inkedIn and networking.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DBF289-C004-E51D-A792-90B952B2D35A}"/>
              </a:ext>
            </a:extLst>
          </p:cNvPr>
          <p:cNvSpPr txBox="1"/>
          <p:nvPr/>
        </p:nvSpPr>
        <p:spPr>
          <a:xfrm>
            <a:off x="283743" y="2950874"/>
            <a:ext cx="176202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/>
              <a:t>Industry Engagement</a:t>
            </a:r>
          </a:p>
          <a:p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5B74EFD-F649-D476-7373-F3816760F3B3}"/>
              </a:ext>
            </a:extLst>
          </p:cNvPr>
          <p:cNvSpPr txBox="1">
            <a:spLocks/>
          </p:cNvSpPr>
          <p:nvPr/>
        </p:nvSpPr>
        <p:spPr>
          <a:xfrm>
            <a:off x="2343685" y="3251764"/>
            <a:ext cx="2008096" cy="11918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Times New Roman" panose="02020603050405020304" pitchFamily="18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ofia Pro Light" panose="020B0000000000000000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AU" dirty="0"/>
              <a:t>Employer presentations</a:t>
            </a:r>
          </a:p>
          <a:p>
            <a:pPr lvl="2"/>
            <a:r>
              <a:rPr lang="en-AU" dirty="0">
                <a:sym typeface="Ubuntu Light"/>
              </a:rPr>
              <a:t>Mock assessment centres</a:t>
            </a:r>
          </a:p>
          <a:p>
            <a:pPr lvl="2"/>
            <a:r>
              <a:rPr lang="en-AU" dirty="0">
                <a:sym typeface="Ubuntu Light"/>
              </a:rPr>
              <a:t>Work-integrated learning courses</a:t>
            </a:r>
          </a:p>
          <a:p>
            <a:pPr lvl="2"/>
            <a:r>
              <a:rPr lang="en-AU" dirty="0"/>
              <a:t>Alumni engagement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AEF878F-B22D-4D48-5A8F-7AEF75D827D7}"/>
              </a:ext>
            </a:extLst>
          </p:cNvPr>
          <p:cNvSpPr txBox="1">
            <a:spLocks/>
          </p:cNvSpPr>
          <p:nvPr/>
        </p:nvSpPr>
        <p:spPr>
          <a:xfrm>
            <a:off x="376304" y="3251764"/>
            <a:ext cx="1919175" cy="121479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Times New Roman" panose="02020603050405020304" pitchFamily="18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ofia Pro Light" panose="020B0000000000000000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AU" dirty="0"/>
              <a:t>Internships</a:t>
            </a:r>
            <a:endParaRPr lang="en-AU" dirty="0">
              <a:sym typeface="Ubuntu Light"/>
            </a:endParaRPr>
          </a:p>
          <a:p>
            <a:pPr lvl="2"/>
            <a:r>
              <a:rPr lang="en-AU" dirty="0"/>
              <a:t>Professional Development Programs</a:t>
            </a:r>
          </a:p>
          <a:p>
            <a:pPr lvl="2"/>
            <a:r>
              <a:rPr lang="en-AU" dirty="0">
                <a:sym typeface="Ubuntu Light"/>
              </a:rPr>
              <a:t>Job fairs</a:t>
            </a:r>
            <a:endParaRPr lang="en-AU" dirty="0">
              <a:latin typeface="Ubuntu Light"/>
              <a:ea typeface="Ubuntu Light"/>
              <a:cs typeface="Ubuntu Light"/>
              <a:sym typeface="Ubuntu Light"/>
            </a:endParaRPr>
          </a:p>
          <a:p>
            <a:pPr lvl="2"/>
            <a:r>
              <a:rPr lang="en-AU" dirty="0"/>
              <a:t>Industry-led workshops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BF5E1B-D1FA-B965-8B84-84F63AA4A244}"/>
              </a:ext>
            </a:extLst>
          </p:cNvPr>
          <p:cNvSpPr/>
          <p:nvPr/>
        </p:nvSpPr>
        <p:spPr>
          <a:xfrm>
            <a:off x="4782251" y="3982941"/>
            <a:ext cx="42949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For more information on CBE Careers:</a:t>
            </a:r>
          </a:p>
          <a:p>
            <a:r>
              <a:rPr lang="en-US" sz="1200" dirty="0">
                <a:hlinkClick r:id="rId5"/>
              </a:rPr>
              <a:t>https://cbe.anu.edu.au/current-students/opportunities-and-careers/cbe-careers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9511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93999D-9B3A-C04B-A7EB-3074DFB10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930231"/>
            <a:ext cx="3989447" cy="3458116"/>
          </a:xfrm>
        </p:spPr>
        <p:txBody>
          <a:bodyPr>
            <a:noAutofit/>
          </a:bodyPr>
          <a:lstStyle/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en-AU" sz="1000" dirty="0"/>
              <a:t>Designed to enhance employability, career-readiness and support a successful transition to the workplace by developing confident, work-ready and competitive graduates.</a:t>
            </a: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en-AU" sz="1000" dirty="0"/>
              <a:t>Developed and delivered in collaboration with industry partners.</a:t>
            </a: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en-AU" sz="1000" dirty="0"/>
              <a:t>Interactive networking workshops, employability milestones and 1:1 time with an experienced industry mentor over a semester.</a:t>
            </a: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en-AU" sz="1000" dirty="0"/>
              <a:t>Each interactive networking workshop focuses on a specific area of professional development and is designed sequentially to support student development around:</a:t>
            </a: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en-AU" sz="1000" dirty="0"/>
              <a:t>Development around:</a:t>
            </a:r>
          </a:p>
          <a:p>
            <a:pPr lvl="3"/>
            <a:r>
              <a:rPr lang="en-AU" sz="1000" dirty="0"/>
              <a:t>Leadership</a:t>
            </a:r>
          </a:p>
          <a:p>
            <a:pPr lvl="3"/>
            <a:r>
              <a:rPr lang="en-AU" sz="1000" dirty="0"/>
              <a:t>Communication</a:t>
            </a:r>
          </a:p>
          <a:p>
            <a:pPr lvl="3"/>
            <a:r>
              <a:rPr lang="en-AU" sz="1000" dirty="0"/>
              <a:t>Critical thinking &amp; problem-solving</a:t>
            </a:r>
          </a:p>
          <a:p>
            <a:pPr lvl="3"/>
            <a:r>
              <a:rPr lang="en-AU" sz="1000" dirty="0"/>
              <a:t>Personal brand</a:t>
            </a:r>
          </a:p>
          <a:p>
            <a:pPr lvl="3"/>
            <a:r>
              <a:rPr lang="en-AU" sz="1000" dirty="0"/>
              <a:t>Teamwork</a:t>
            </a:r>
          </a:p>
          <a:p>
            <a:pPr marL="0" lvl="2" indent="0">
              <a:buNone/>
            </a:pPr>
            <a:endParaRPr lang="en-AU" sz="1000" dirty="0"/>
          </a:p>
          <a:p>
            <a:pPr marL="0" lvl="2" indent="0">
              <a:buNone/>
            </a:pPr>
            <a:endParaRPr lang="en-US" sz="1000" dirty="0"/>
          </a:p>
          <a:p>
            <a:pPr marL="0" lvl="2" indent="0">
              <a:buNone/>
            </a:pPr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B596D-850F-6243-8BD4-B5F73A349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1DC5-1685-4615-8240-15192985C6A2}" type="slidenum">
              <a:rPr lang="en-AU" smtClean="0"/>
              <a:pPr/>
              <a:t>18</a:t>
            </a:fld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272EE4-9CBB-DD47-BFA2-1B9C405C59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324001"/>
            <a:ext cx="3600000" cy="552300"/>
          </a:xfrm>
        </p:spPr>
        <p:txBody>
          <a:bodyPr>
            <a:normAutofit/>
          </a:bodyPr>
          <a:lstStyle/>
          <a:p>
            <a:r>
              <a:rPr lang="en-AU" sz="3400" dirty="0"/>
              <a:t>Momentum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6943CA-5354-FA48-BB68-CEEB6416E0E4}"/>
              </a:ext>
            </a:extLst>
          </p:cNvPr>
          <p:cNvSpPr txBox="1"/>
          <p:nvPr/>
        </p:nvSpPr>
        <p:spPr>
          <a:xfrm>
            <a:off x="4835279" y="3764920"/>
            <a:ext cx="41015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A800E6-E906-516B-B3FF-5E944DCA2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4200" y="4914000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 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D06132-72A3-6C54-CA20-BA89946409DC}"/>
              </a:ext>
            </a:extLst>
          </p:cNvPr>
          <p:cNvSpPr txBox="1"/>
          <p:nvPr/>
        </p:nvSpPr>
        <p:spPr>
          <a:xfrm>
            <a:off x="4903596" y="3788183"/>
            <a:ext cx="360801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indent="0">
              <a:buNone/>
            </a:pPr>
            <a:r>
              <a:rPr lang="en-US" sz="1100" dirty="0"/>
              <a:t>For more information:</a:t>
            </a:r>
          </a:p>
          <a:p>
            <a:pPr marL="0" lvl="2" indent="0">
              <a:buNone/>
            </a:pPr>
            <a:r>
              <a:rPr lang="en-US" sz="1100" dirty="0">
                <a:hlinkClick r:id="rId3"/>
              </a:rPr>
              <a:t>https://cbe.anu.edu.au/current-students/opportunities-and-careers/cbe-momentum</a:t>
            </a:r>
            <a:r>
              <a:rPr lang="en-US" sz="1100" dirty="0"/>
              <a:t>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141973-7FCB-69D1-ADF9-E970DE6F3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707" y="930231"/>
            <a:ext cx="4101547" cy="251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130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B596D-850F-6243-8BD4-B5F73A349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1DC5-1685-4615-8240-15192985C6A2}" type="slidenum">
              <a:rPr lang="en-AU" smtClean="0"/>
              <a:pPr/>
              <a:t>19</a:t>
            </a:fld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272EE4-9CBB-DD47-BFA2-1B9C405C59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324001"/>
            <a:ext cx="4032846" cy="552300"/>
          </a:xfrm>
        </p:spPr>
        <p:txBody>
          <a:bodyPr>
            <a:noAutofit/>
          </a:bodyPr>
          <a:lstStyle/>
          <a:p>
            <a:r>
              <a:rPr lang="en-AU" dirty="0"/>
              <a:t>CBE Internship Program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26DCA6-3011-774F-909A-961304A3E816}"/>
              </a:ext>
            </a:extLst>
          </p:cNvPr>
          <p:cNvSpPr/>
          <p:nvPr/>
        </p:nvSpPr>
        <p:spPr>
          <a:xfrm>
            <a:off x="4964111" y="2571750"/>
            <a:ext cx="3868689" cy="2292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1100" dirty="0"/>
              <a:t>The experience taught me many valuable technical and professional skills. Most importantly, it allowed me to have exposure to a professional working environment and form lasting connections. An example of this is my internship supervisor, who I've kept in touch with over the years. It was through this connection that I found out about the opportunity to work in the role as Product Specialist, which subsequently led to my position as Technical Account Manager at Qualtrics.</a:t>
            </a:r>
          </a:p>
          <a:p>
            <a:pPr algn="ctr"/>
            <a:endParaRPr lang="en-AU" sz="800" dirty="0">
              <a:solidFill>
                <a:schemeClr val="accent1"/>
              </a:solidFill>
            </a:endParaRPr>
          </a:p>
          <a:p>
            <a:pPr algn="ctr"/>
            <a:r>
              <a:rPr lang="en-AU" sz="1050" b="1" dirty="0">
                <a:solidFill>
                  <a:schemeClr val="accent1"/>
                </a:solidFill>
              </a:rPr>
              <a:t>Veeanna Lee</a:t>
            </a:r>
          </a:p>
          <a:p>
            <a:pPr algn="ctr"/>
            <a:r>
              <a:rPr lang="en-AU" sz="1050" b="1" dirty="0"/>
              <a:t>Bachelor of Actuarial Studies 2018</a:t>
            </a:r>
          </a:p>
          <a:p>
            <a:pPr algn="ctr"/>
            <a:r>
              <a:rPr lang="en-AU" sz="1050" b="1" dirty="0"/>
              <a:t>Senior </a:t>
            </a:r>
            <a:r>
              <a:rPr lang="en-AU" sz="1050" b="1"/>
              <a:t>Technical Success </a:t>
            </a:r>
            <a:r>
              <a:rPr lang="en-AU" sz="1050" b="1" dirty="0"/>
              <a:t>Manager, Qualtrics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F9CCFB-DF34-6B43-85A0-EE0A8C62B86C}"/>
              </a:ext>
            </a:extLst>
          </p:cNvPr>
          <p:cNvSpPr/>
          <p:nvPr/>
        </p:nvSpPr>
        <p:spPr>
          <a:xfrm>
            <a:off x="8188731" y="3744449"/>
            <a:ext cx="537327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7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449584-39AD-2A47-BB19-EE649446572A}"/>
              </a:ext>
            </a:extLst>
          </p:cNvPr>
          <p:cNvSpPr/>
          <p:nvPr/>
        </p:nvSpPr>
        <p:spPr>
          <a:xfrm>
            <a:off x="4634744" y="2310374"/>
            <a:ext cx="567784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7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565902E4-6503-1E46-AC3E-E53EEB60E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200" y="1516778"/>
            <a:ext cx="4058146" cy="2756745"/>
          </a:xfrm>
        </p:spPr>
        <p:txBody>
          <a:bodyPr>
            <a:normAutofit lnSpcReduction="10000"/>
          </a:bodyPr>
          <a:lstStyle/>
          <a:p>
            <a:pPr lvl="2">
              <a:lnSpc>
                <a:spcPct val="90000"/>
              </a:lnSpc>
            </a:pPr>
            <a:r>
              <a:rPr lang="en-AU" dirty="0"/>
              <a:t>130 hours (6 units) or 260 hours (12 units)</a:t>
            </a:r>
          </a:p>
          <a:p>
            <a:pPr lvl="2">
              <a:lnSpc>
                <a:spcPct val="90000"/>
              </a:lnSpc>
            </a:pPr>
            <a:r>
              <a:rPr lang="en-AU" dirty="0"/>
              <a:t>100+ local internship hosts in public, private, and for-purpose sectors.</a:t>
            </a:r>
          </a:p>
          <a:p>
            <a:pPr lvl="2">
              <a:lnSpc>
                <a:spcPct val="90000"/>
              </a:lnSpc>
            </a:pPr>
            <a:r>
              <a:rPr lang="en-AU" dirty="0"/>
              <a:t>CBE-sourced or student-sourced projects </a:t>
            </a:r>
          </a:p>
          <a:p>
            <a:pPr lvl="2">
              <a:lnSpc>
                <a:spcPct val="90000"/>
              </a:lnSpc>
            </a:pPr>
            <a:r>
              <a:rPr lang="en-AU" dirty="0"/>
              <a:t>Similar to real job applications.</a:t>
            </a:r>
          </a:p>
          <a:p>
            <a:pPr lvl="2">
              <a:lnSpc>
                <a:spcPct val="90000"/>
              </a:lnSpc>
            </a:pPr>
            <a:r>
              <a:rPr lang="en-AU" dirty="0"/>
              <a:t>Key outcomes</a:t>
            </a:r>
          </a:p>
          <a:p>
            <a:pPr lvl="3">
              <a:lnSpc>
                <a:spcPct val="90000"/>
              </a:lnSpc>
            </a:pPr>
            <a:r>
              <a:rPr lang="en-AU" dirty="0"/>
              <a:t>85% growth in employability skills</a:t>
            </a:r>
          </a:p>
          <a:p>
            <a:pPr lvl="3">
              <a:lnSpc>
                <a:spcPct val="90000"/>
              </a:lnSpc>
            </a:pPr>
            <a:r>
              <a:rPr lang="en-AU" dirty="0"/>
              <a:t>90% student satisfaction</a:t>
            </a:r>
          </a:p>
          <a:p>
            <a:pPr lvl="3">
              <a:lnSpc>
                <a:spcPct val="90000"/>
              </a:lnSpc>
            </a:pPr>
            <a:r>
              <a:rPr lang="en-AU" dirty="0"/>
              <a:t>50% nominated for Intern of the Year Awards</a:t>
            </a:r>
          </a:p>
          <a:p>
            <a:pPr lvl="2">
              <a:lnSpc>
                <a:spcPct val="90000"/>
              </a:lnSpc>
            </a:pPr>
            <a:endParaRPr lang="en-AU" dirty="0"/>
          </a:p>
          <a:p>
            <a:pPr marL="0" lvl="2" indent="0">
              <a:lnSpc>
                <a:spcPct val="90000"/>
              </a:lnSpc>
              <a:buNone/>
            </a:pPr>
            <a:r>
              <a:rPr lang="en-AU" dirty="0"/>
              <a:t>For more information: </a:t>
            </a:r>
          </a:p>
          <a:p>
            <a:pPr marL="0" lvl="2" indent="0">
              <a:lnSpc>
                <a:spcPct val="90000"/>
              </a:lnSpc>
              <a:buNone/>
            </a:pPr>
            <a:r>
              <a:rPr lang="en-AU" dirty="0">
                <a:hlinkClick r:id="rId3"/>
              </a:rPr>
              <a:t>https://cbe.anu.edu.au/current-students/opportunities-and-careers/cbe-internships</a:t>
            </a:r>
            <a:r>
              <a:rPr lang="en-AU" dirty="0"/>
              <a:t>    </a:t>
            </a:r>
          </a:p>
          <a:p>
            <a:pPr marL="0" lvl="2" indent="0">
              <a:lnSpc>
                <a:spcPct val="90000"/>
              </a:lnSpc>
              <a:buNone/>
            </a:pPr>
            <a:endParaRPr lang="en-AU" dirty="0"/>
          </a:p>
          <a:p>
            <a:pPr marL="0" lvl="2" indent="0">
              <a:lnSpc>
                <a:spcPct val="90000"/>
              </a:lnSpc>
              <a:buNone/>
            </a:pPr>
            <a:endParaRPr lang="en-AU" dirty="0"/>
          </a:p>
          <a:p>
            <a:pPr lvl="3">
              <a:lnSpc>
                <a:spcPct val="90000"/>
              </a:lnSpc>
            </a:pPr>
            <a:endParaRPr lang="en-AU" dirty="0"/>
          </a:p>
          <a:p>
            <a:pPr lvl="3">
              <a:lnSpc>
                <a:spcPct val="90000"/>
              </a:lnSpc>
            </a:pPr>
            <a:endParaRPr lang="en-AU" dirty="0"/>
          </a:p>
          <a:p>
            <a:pPr lvl="3">
              <a:lnSpc>
                <a:spcPct val="90000"/>
              </a:lnSpc>
            </a:pPr>
            <a:endParaRPr lang="en-AU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B8027DC-FB2A-4705-F143-5BECC5299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4200" y="4914000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 </a:t>
            </a:r>
            <a:endParaRPr lang="en-AU" dirty="0"/>
          </a:p>
        </p:txBody>
      </p:sp>
      <p:pic>
        <p:nvPicPr>
          <p:cNvPr id="1026" name="Picture 2" descr="Veeanna Lee">
            <a:extLst>
              <a:ext uri="{FF2B5EF4-FFF2-40B4-BE49-F238E27FC236}">
                <a16:creationId xmlns:a16="http://schemas.microsoft.com/office/drawing/2014/main" id="{D8448859-DDA2-A273-BC22-31DFE5EB5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735" y="394862"/>
            <a:ext cx="2061430" cy="2061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3378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F0F9F7-0248-DC4E-BBA3-98CB3C91CF2C}"/>
              </a:ext>
            </a:extLst>
          </p:cNvPr>
          <p:cNvSpPr/>
          <p:nvPr/>
        </p:nvSpPr>
        <p:spPr>
          <a:xfrm>
            <a:off x="414968" y="797099"/>
            <a:ext cx="8111812" cy="35473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900" dirty="0">
                <a:hlinkClick r:id="rId3"/>
              </a:rPr>
              <a:t>Direct Applications </a:t>
            </a:r>
            <a:r>
              <a:rPr lang="en-AU" sz="1900" dirty="0"/>
              <a:t>open on 11 March 2026 and cover admission, scholarships and (where relevant) accommodation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900" dirty="0"/>
              <a:t>Applications close on 8 May 2026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900" dirty="0"/>
              <a:t>Early offers will be released on 3 September 2026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900" dirty="0"/>
              <a:t>Early offer acceptance deadline is 30 September 2026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900" dirty="0"/>
              <a:t>Change of academic preference period is 1 – 30 November 2026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900" dirty="0"/>
              <a:t>Final offers released in late December 2026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900" dirty="0"/>
              <a:t>Alternative approach is through the </a:t>
            </a:r>
            <a:r>
              <a:rPr lang="en-AU" sz="1900" dirty="0">
                <a:hlinkClick r:id="rId4"/>
              </a:rPr>
              <a:t>University Admissions Centre</a:t>
            </a:r>
            <a:endParaRPr lang="en-AU" sz="1900" dirty="0"/>
          </a:p>
        </p:txBody>
      </p:sp>
      <p:sp>
        <p:nvSpPr>
          <p:cNvPr id="2" name="Rectangle 1"/>
          <p:cNvSpPr/>
          <p:nvPr/>
        </p:nvSpPr>
        <p:spPr>
          <a:xfrm>
            <a:off x="235060" y="291126"/>
            <a:ext cx="79880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800" dirty="0">
                <a:solidFill>
                  <a:schemeClr val="accent1"/>
                </a:solidFill>
              </a:rPr>
              <a:t>Domestic - Applying to ANU – Semester 1 2027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92DB596D-850F-6243-8BD4-B5F73A349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914000"/>
            <a:ext cx="360000" cy="108000"/>
          </a:xfrm>
        </p:spPr>
        <p:txBody>
          <a:bodyPr/>
          <a:lstStyle/>
          <a:p>
            <a:fld id="{10A01DC5-1685-4615-8240-15192985C6A2}" type="slidenum">
              <a:rPr lang="en-AU" smtClean="0"/>
              <a:pPr/>
              <a:t>20</a:t>
            </a:fld>
            <a:endParaRPr lang="en-AU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B334F18-6C12-E14E-B6BB-1B7CEEEB3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4200" y="4914000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90188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66BAA3-3AB4-4C02-9488-682B7B5D3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49" y="1455038"/>
            <a:ext cx="4110005" cy="3077112"/>
          </a:xfrm>
        </p:spPr>
        <p:txBody>
          <a:bodyPr>
            <a:noAutofit/>
          </a:bodyPr>
          <a:lstStyle/>
          <a:p>
            <a:r>
              <a:rPr lang="en-AU" sz="1800" u="sng" dirty="0"/>
              <a:t>ANU Open Day</a:t>
            </a:r>
          </a:p>
          <a:p>
            <a:r>
              <a:rPr lang="en-AU" sz="1800" dirty="0">
                <a:solidFill>
                  <a:schemeClr val="tx1"/>
                </a:solidFill>
              </a:rPr>
              <a:t>Saturday 28 March</a:t>
            </a:r>
          </a:p>
          <a:p>
            <a:endParaRPr lang="en-AU" sz="800" u="sng" dirty="0"/>
          </a:p>
          <a:p>
            <a:r>
              <a:rPr lang="en-AU" sz="1800" u="sng" dirty="0"/>
              <a:t>ANU Actuarial Studies Experience Day </a:t>
            </a:r>
            <a:r>
              <a:rPr lang="en-AU" sz="1800" dirty="0">
                <a:solidFill>
                  <a:schemeClr val="tx1"/>
                </a:solidFill>
              </a:rPr>
              <a:t>Wednesday 30 September</a:t>
            </a:r>
          </a:p>
          <a:p>
            <a:r>
              <a:rPr lang="en-AU" sz="1800" dirty="0">
                <a:solidFill>
                  <a:schemeClr val="tx1"/>
                </a:solidFill>
              </a:rPr>
              <a:t>Register at:</a:t>
            </a:r>
          </a:p>
          <a:p>
            <a:r>
              <a:rPr lang="en-AU" sz="1800" dirty="0">
                <a:solidFill>
                  <a:schemeClr val="tx1"/>
                </a:solidFill>
                <a:hlinkClick r:id="rId2"/>
              </a:rPr>
              <a:t>https://cbe.anu.edu.au/actuarial-experience-day</a:t>
            </a:r>
            <a:endParaRPr lang="en-AU" sz="1800" dirty="0">
              <a:solidFill>
                <a:schemeClr val="tx1"/>
              </a:solidFill>
            </a:endParaRPr>
          </a:p>
          <a:p>
            <a:endParaRPr lang="en-AU" sz="1800" dirty="0">
              <a:solidFill>
                <a:schemeClr val="tx1"/>
              </a:solidFill>
            </a:endParaRPr>
          </a:p>
        </p:txBody>
      </p:sp>
      <p:pic>
        <p:nvPicPr>
          <p:cNvPr id="5" name="Picture 4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BD7299F2-56D2-5CC0-C45F-479E12B3C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716" y="2974215"/>
            <a:ext cx="1845284" cy="18452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E6FE8-F0E0-430B-829F-02ADA0D0A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914000"/>
            <a:ext cx="360000" cy="108000"/>
          </a:xfrm>
        </p:spPr>
        <p:txBody>
          <a:bodyPr/>
          <a:lstStyle/>
          <a:p>
            <a:fld id="{10A01DC5-1685-4615-8240-15192985C6A2}" type="slidenum">
              <a:rPr lang="en-AU" smtClean="0"/>
              <a:pPr/>
              <a:t>21</a:t>
            </a:fld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310FE0-69A4-4565-BC20-2529EB334A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324001"/>
            <a:ext cx="3600000" cy="1131037"/>
          </a:xfrm>
        </p:spPr>
        <p:txBody>
          <a:bodyPr>
            <a:normAutofit/>
          </a:bodyPr>
          <a:lstStyle/>
          <a:p>
            <a:r>
              <a:rPr lang="en-AU" sz="3200" dirty="0"/>
              <a:t>Would you like to know more?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FFC551D-62C8-3F4C-AE38-83F4025EB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4200" y="4914000"/>
            <a:ext cx="4320000" cy="108000"/>
          </a:xfrm>
        </p:spPr>
        <p:txBody>
          <a:bodyPr/>
          <a:lstStyle/>
          <a:p>
            <a:r>
              <a:rPr lang="en-US" dirty="0"/>
              <a:t>ANU COLLEGE OF BUSINESS AND ECONOMICS</a:t>
            </a:r>
            <a:endParaRPr lang="en-AU" dirty="0"/>
          </a:p>
        </p:txBody>
      </p:sp>
      <p:pic>
        <p:nvPicPr>
          <p:cNvPr id="1026" name="Picture 2" descr="ANU experience">
            <a:extLst>
              <a:ext uri="{FF2B5EF4-FFF2-40B4-BE49-F238E27FC236}">
                <a16:creationId xmlns:a16="http://schemas.microsoft.com/office/drawing/2014/main" id="{BA438261-AA3B-FDEC-028D-E203459CB3FD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47" t="-4" r="18823" b="4"/>
          <a:stretch/>
        </p:blipFill>
        <p:spPr bwMode="auto">
          <a:xfrm>
            <a:off x="4710146" y="823506"/>
            <a:ext cx="4237263" cy="3261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4690992"/>
      </p:ext>
    </p:extLst>
  </p:cSld>
  <p:clrMapOvr>
    <a:masterClrMapping/>
  </p:clrMapOvr>
</p:sld>
</file>

<file path=ppt/theme/theme1.xml><?xml version="1.0" encoding="utf-8"?>
<a:theme xmlns:a="http://schemas.openxmlformats.org/drawingml/2006/main" name="ANU Light">
  <a:themeElements>
    <a:clrScheme name="ANU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E830E"/>
      </a:accent1>
      <a:accent2>
        <a:srgbClr val="DFC187"/>
      </a:accent2>
      <a:accent3>
        <a:srgbClr val="F5EDDE"/>
      </a:accent3>
      <a:accent4>
        <a:srgbClr val="BE4E0E"/>
      </a:accent4>
      <a:accent5>
        <a:srgbClr val="CB7352"/>
      </a:accent5>
      <a:accent6>
        <a:srgbClr val="F2DCD4"/>
      </a:accent6>
      <a:hlink>
        <a:srgbClr val="BE830E"/>
      </a:hlink>
      <a:folHlink>
        <a:srgbClr val="BE4E0E"/>
      </a:folHlink>
    </a:clrScheme>
    <a:fontScheme name="ANU">
      <a:majorFont>
        <a:latin typeface="Public Sans"/>
        <a:ea typeface=""/>
        <a:cs typeface=""/>
      </a:majorFont>
      <a:minorFont>
        <a:latin typeface="Public Sans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U_Powerpoint_Light_v3" id="{768B2342-8F25-4BCF-A9F2-7F75F1A83BC8}" vid="{5D6854EF-C683-4EFA-B0BF-EA4FED51159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5e59b66-5074-403d-9716-ee5014e3ac8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2D844B9FB2724C93BCA44E0D4F2456" ma:contentTypeVersion="15" ma:contentTypeDescription="Create a new document." ma:contentTypeScope="" ma:versionID="c942bf4f27431086e3dcae55719c6184">
  <xsd:schema xmlns:xsd="http://www.w3.org/2001/XMLSchema" xmlns:xs="http://www.w3.org/2001/XMLSchema" xmlns:p="http://schemas.microsoft.com/office/2006/metadata/properties" xmlns:ns3="e5e59b66-5074-403d-9716-ee5014e3ac88" xmlns:ns4="bda87d8b-1969-48a2-91b1-fce1f40a656a" targetNamespace="http://schemas.microsoft.com/office/2006/metadata/properties" ma:root="true" ma:fieldsID="32397a8619868968cda837e69d653ad7" ns3:_="" ns4:_="">
    <xsd:import namespace="e5e59b66-5074-403d-9716-ee5014e3ac88"/>
    <xsd:import namespace="bda87d8b-1969-48a2-91b1-fce1f40a656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59b66-5074-403d-9716-ee5014e3ac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a87d8b-1969-48a2-91b1-fce1f40a656a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655D042-D8B3-4BE3-86DE-6019F96E2850}">
  <ds:schemaRefs>
    <ds:schemaRef ds:uri="http://purl.org/dc/terms/"/>
    <ds:schemaRef ds:uri="http://purl.org/dc/dcmitype/"/>
    <ds:schemaRef ds:uri="http://schemas.openxmlformats.org/package/2006/metadata/core-properties"/>
    <ds:schemaRef ds:uri="http://www.w3.org/XML/1998/namespace"/>
    <ds:schemaRef ds:uri="bda87d8b-1969-48a2-91b1-fce1f40a656a"/>
    <ds:schemaRef ds:uri="http://schemas.microsoft.com/office/2006/documentManagement/types"/>
    <ds:schemaRef ds:uri="e5e59b66-5074-403d-9716-ee5014e3ac88"/>
    <ds:schemaRef ds:uri="http://schemas.microsoft.com/office/infopath/2007/PartnerControl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6F9CD01-BF0D-45ED-A2A9-1BDA28B45D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e59b66-5074-403d-9716-ee5014e3ac88"/>
    <ds:schemaRef ds:uri="bda87d8b-1969-48a2-91b1-fce1f40a65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42CD11-9905-45C0-AA8E-EE5B79DEFB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ANU Light</Template>
  <TotalTime>11874</TotalTime>
  <Words>1587</Words>
  <Application>Microsoft Office PowerPoint</Application>
  <PresentationFormat>On-screen Show (16:9)</PresentationFormat>
  <Paragraphs>262</Paragraphs>
  <Slides>21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Calibri</vt:lpstr>
      <vt:lpstr>Helvetica Neue Light</vt:lpstr>
      <vt:lpstr>Public Sans</vt:lpstr>
      <vt:lpstr>Public Sans Light</vt:lpstr>
      <vt:lpstr>Sofia Pro Light</vt:lpstr>
      <vt:lpstr>Times New Roman</vt:lpstr>
      <vt:lpstr>Ubuntu Light</vt:lpstr>
      <vt:lpstr>Wingdings</vt:lpstr>
      <vt:lpstr>ANU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Hanoem Wijaya</dc:creator>
  <cp:lastModifiedBy>Adam Butt</cp:lastModifiedBy>
  <cp:revision>146</cp:revision>
  <cp:lastPrinted>2022-10-04T21:04:36Z</cp:lastPrinted>
  <dcterms:created xsi:type="dcterms:W3CDTF">2021-08-24T03:20:28Z</dcterms:created>
  <dcterms:modified xsi:type="dcterms:W3CDTF">2026-03-11T21:32:13Z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0x0101004F2D844B9FB2724C93BCA44E0D4F2456</vt:lpwstr>
  </property>
</Properties>
</file>